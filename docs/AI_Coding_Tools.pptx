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5" d="100"/>
          <a:sy n="115" d="100"/>
        </p:scale>
        <p:origin x="706"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371600"/>
            <a:ext cx="7315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201168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TRAINER WORKSHOP</a:t>
            </a:r>
          </a:p>
        </p:txBody>
      </p:sp>
      <p:sp>
        <p:nvSpPr>
          <p:cNvPr id="5" name="TextBox 4"/>
          <p:cNvSpPr txBox="1"/>
          <p:nvPr/>
        </p:nvSpPr>
        <p:spPr>
          <a:xfrm>
            <a:off x="731520" y="2103120"/>
            <a:ext cx="10515600" cy="1828800"/>
          </a:xfrm>
          <a:prstGeom prst="rect">
            <a:avLst/>
          </a:prstGeom>
          <a:noFill/>
        </p:spPr>
        <p:txBody>
          <a:bodyPr wrap="none">
            <a:spAutoFit/>
          </a:bodyPr>
          <a:lstStyle/>
          <a:p>
            <a:pPr>
              <a:defRPr sz="4400" b="1">
                <a:solidFill>
                  <a:srgbClr val="1E40AF"/>
                </a:solidFill>
                <a:latin typeface="Georgia"/>
              </a:defRPr>
            </a:pPr>
            <a:r>
              <a:t>Coding AI Tools</a:t>
            </a:r>
          </a:p>
          <a:p>
            <a:pPr>
              <a:spcBef>
                <a:spcPts val="1000"/>
              </a:spcBef>
              <a:defRPr sz="2000">
                <a:solidFill>
                  <a:srgbClr val="6B7280"/>
                </a:solidFill>
              </a:defRPr>
            </a:pPr>
            <a:r>
              <a:t>How to Think About, Prompt, and Teach AI-Assisted Development</a:t>
            </a:r>
          </a:p>
        </p:txBody>
      </p:sp>
      <p:sp>
        <p:nvSpPr>
          <p:cNvPr id="6" name="Rounded Rectangle 5"/>
          <p:cNvSpPr/>
          <p:nvPr/>
        </p:nvSpPr>
        <p:spPr>
          <a:xfrm>
            <a:off x="731520" y="4389120"/>
            <a:ext cx="10698480" cy="1371600"/>
          </a:xfrm>
          <a:prstGeom prst="roundRect">
            <a:avLst/>
          </a:prstGeom>
          <a:solidFill>
            <a:srgbClr val="FEF8E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000" b="1">
                <a:solidFill>
                  <a:srgbClr val="F59E0B"/>
                </a:solidFill>
                <a:latin typeface="Consolas"/>
              </a:defRPr>
            </a:pPr>
            <a:r>
              <a:t>AUDIENCE</a:t>
            </a:r>
          </a:p>
          <a:p>
            <a:pPr>
              <a:defRPr sz="1300">
                <a:solidFill>
                  <a:srgbClr val="78350F"/>
                </a:solidFill>
                <a:latin typeface="Calibri"/>
              </a:defRPr>
            </a:pPr>
            <a:r>
              <a:t>New trainers teaching Coding AI to development teams using Java Spring Boot &amp; Python.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02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1 — UNDERSTANDING CODING AI</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Learning Objectives</a:t>
            </a:r>
          </a:p>
        </p:txBody>
      </p:sp>
      <p:sp>
        <p:nvSpPr>
          <p:cNvPr id="6" name="Oval 5"/>
          <p:cNvSpPr/>
          <p:nvPr/>
        </p:nvSpPr>
        <p:spPr>
          <a:xfrm>
            <a:off x="731520" y="1645920"/>
            <a:ext cx="411480" cy="41148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1</a:t>
            </a:r>
          </a:p>
        </p:txBody>
      </p:sp>
      <p:sp>
        <p:nvSpPr>
          <p:cNvPr id="7" name="Rounded Rectangle 6"/>
          <p:cNvSpPr/>
          <p:nvPr/>
        </p:nvSpPr>
        <p:spPr>
          <a:xfrm>
            <a:off x="1325880" y="1645920"/>
            <a:ext cx="10104120" cy="59436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400">
                <a:solidFill>
                  <a:srgbClr val="374151"/>
                </a:solidFill>
              </a:rPr>
              <a:t>Understand what Coding AI tools are and how they work</a:t>
            </a:r>
          </a:p>
        </p:txBody>
      </p:sp>
      <p:sp>
        <p:nvSpPr>
          <p:cNvPr id="8" name="Oval 7"/>
          <p:cNvSpPr/>
          <p:nvPr/>
        </p:nvSpPr>
        <p:spPr>
          <a:xfrm>
            <a:off x="731520" y="2514600"/>
            <a:ext cx="411480" cy="41148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2</a:t>
            </a:r>
          </a:p>
        </p:txBody>
      </p:sp>
      <p:sp>
        <p:nvSpPr>
          <p:cNvPr id="9" name="Rounded Rectangle 8"/>
          <p:cNvSpPr/>
          <p:nvPr/>
        </p:nvSpPr>
        <p:spPr>
          <a:xfrm>
            <a:off x="1325880" y="2514600"/>
            <a:ext cx="10104120" cy="59436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400">
                <a:solidFill>
                  <a:srgbClr val="374151"/>
                </a:solidFill>
              </a:rPr>
              <a:t>Identify different tool categories and their strengths</a:t>
            </a:r>
          </a:p>
        </p:txBody>
      </p:sp>
      <p:sp>
        <p:nvSpPr>
          <p:cNvPr id="10" name="Oval 9"/>
          <p:cNvSpPr/>
          <p:nvPr/>
        </p:nvSpPr>
        <p:spPr>
          <a:xfrm>
            <a:off x="731520" y="3383280"/>
            <a:ext cx="411480" cy="41148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3</a:t>
            </a:r>
          </a:p>
        </p:txBody>
      </p:sp>
      <p:sp>
        <p:nvSpPr>
          <p:cNvPr id="11" name="Rounded Rectangle 10"/>
          <p:cNvSpPr/>
          <p:nvPr/>
        </p:nvSpPr>
        <p:spPr>
          <a:xfrm>
            <a:off x="1325880" y="3383280"/>
            <a:ext cx="10104120" cy="59436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400">
                <a:solidFill>
                  <a:srgbClr val="374151"/>
                </a:solidFill>
              </a:rPr>
              <a:t>Know when to use AI — and when to avoid it</a:t>
            </a:r>
          </a:p>
        </p:txBody>
      </p:sp>
      <p:sp>
        <p:nvSpPr>
          <p:cNvPr id="12" name="Oval 11"/>
          <p:cNvSpPr/>
          <p:nvPr/>
        </p:nvSpPr>
        <p:spPr>
          <a:xfrm>
            <a:off x="731520" y="4251959"/>
            <a:ext cx="411480" cy="41148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4</a:t>
            </a:r>
          </a:p>
        </p:txBody>
      </p:sp>
      <p:sp>
        <p:nvSpPr>
          <p:cNvPr id="13" name="Rounded Rectangle 12"/>
          <p:cNvSpPr/>
          <p:nvPr/>
        </p:nvSpPr>
        <p:spPr>
          <a:xfrm>
            <a:off x="1325880" y="4251959"/>
            <a:ext cx="10104120" cy="59436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400">
                <a:solidFill>
                  <a:srgbClr val="374151"/>
                </a:solidFill>
              </a:rPr>
              <a:t>Master prompting with the professional 6-part formula</a:t>
            </a:r>
          </a:p>
        </p:txBody>
      </p:sp>
      <p:sp>
        <p:nvSpPr>
          <p:cNvPr id="14" name="Oval 13"/>
          <p:cNvSpPr/>
          <p:nvPr/>
        </p:nvSpPr>
        <p:spPr>
          <a:xfrm>
            <a:off x="731520" y="5120640"/>
            <a:ext cx="411480" cy="41148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5</a:t>
            </a:r>
          </a:p>
        </p:txBody>
      </p:sp>
      <p:sp>
        <p:nvSpPr>
          <p:cNvPr id="15" name="Rounded Rectangle 14"/>
          <p:cNvSpPr/>
          <p:nvPr/>
        </p:nvSpPr>
        <p:spPr>
          <a:xfrm>
            <a:off x="1325880" y="5120640"/>
            <a:ext cx="10104120" cy="59436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400">
                <a:solidFill>
                  <a:srgbClr val="374151"/>
                </a:solidFill>
              </a:rPr>
              <a:t>Review AI-generated code with engineering rigor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03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1 — UNDERSTANDING CODING AI</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What Are Coding AI Tools?</a:t>
            </a:r>
          </a:p>
        </p:txBody>
      </p:sp>
      <p:sp>
        <p:nvSpPr>
          <p:cNvPr id="6" name="Rounded Rectangle 5"/>
          <p:cNvSpPr/>
          <p:nvPr/>
        </p:nvSpPr>
        <p:spPr>
          <a:xfrm>
            <a:off x="731520" y="1645920"/>
            <a:ext cx="10698480" cy="1188720"/>
          </a:xfrm>
          <a:prstGeom prst="roundRect">
            <a:avLst/>
          </a:prstGeom>
          <a:solidFill>
            <a:srgbClr val="FEF8E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spcAft>
                <a:spcPts val="400"/>
              </a:spcAft>
              <a:defRPr sz="1000" b="1">
                <a:solidFill>
                  <a:srgbClr val="F59E0B"/>
                </a:solidFill>
                <a:latin typeface="Consolas"/>
              </a:defRPr>
            </a:pPr>
            <a:r>
              <a:t>DEFINITION</a:t>
            </a:r>
          </a:p>
          <a:p>
            <a:pPr>
              <a:defRPr sz="1300">
                <a:solidFill>
                  <a:srgbClr val="78350F"/>
                </a:solidFill>
                <a:latin typeface="Calibri"/>
              </a:defRPr>
            </a:pPr>
            <a:r>
              <a:t>Software applications that use large language models to assist developers in writing, understanding, debugging, and managing source code.</a:t>
            </a:r>
          </a:p>
        </p:txBody>
      </p:sp>
      <p:sp>
        <p:nvSpPr>
          <p:cNvPr id="7" name="TextBox 6"/>
          <p:cNvSpPr txBox="1"/>
          <p:nvPr/>
        </p:nvSpPr>
        <p:spPr>
          <a:xfrm>
            <a:off x="731520" y="3017520"/>
            <a:ext cx="10698480" cy="3200400"/>
          </a:xfrm>
          <a:prstGeom prst="rect">
            <a:avLst/>
          </a:prstGeom>
          <a:noFill/>
        </p:spPr>
        <p:txBody>
          <a:bodyPr wrap="none">
            <a:spAutoFit/>
          </a:bodyPr>
          <a:lstStyle/>
          <a:p>
            <a:pPr>
              <a:spcAft>
                <a:spcPts val="1000"/>
              </a:spcAft>
              <a:defRPr sz="1800" b="1">
                <a:solidFill>
                  <a:srgbClr val="374151"/>
                </a:solidFill>
              </a:defRPr>
            </a:pPr>
            <a:r>
              <a:t>Core Capabilities</a:t>
            </a:r>
          </a:p>
          <a:p>
            <a:pPr>
              <a:spcAft>
                <a:spcPts val="800"/>
              </a:spcAft>
            </a:pPr>
            <a:r>
              <a:rPr sz="1400" b="1">
                <a:solidFill>
                  <a:srgbClr val="3B82F6"/>
                </a:solidFill>
              </a:rPr>
              <a:t>•  Code generation — </a:t>
            </a:r>
            <a:r>
              <a:rPr sz="1400">
                <a:solidFill>
                  <a:srgbClr val="374151"/>
                </a:solidFill>
              </a:rPr>
              <a:t>write new code from natural language</a:t>
            </a:r>
          </a:p>
          <a:p>
            <a:pPr>
              <a:spcAft>
                <a:spcPts val="800"/>
              </a:spcAft>
            </a:pPr>
            <a:r>
              <a:rPr sz="1400" b="1">
                <a:solidFill>
                  <a:srgbClr val="3B82F6"/>
                </a:solidFill>
              </a:rPr>
              <a:t>•  Code explanation — </a:t>
            </a:r>
            <a:r>
              <a:rPr sz="1400">
                <a:solidFill>
                  <a:srgbClr val="374151"/>
                </a:solidFill>
              </a:rPr>
              <a:t>summarize unfamiliar logic</a:t>
            </a:r>
          </a:p>
          <a:p>
            <a:pPr>
              <a:spcAft>
                <a:spcPts val="800"/>
              </a:spcAft>
            </a:pPr>
            <a:r>
              <a:rPr sz="1400" b="1">
                <a:solidFill>
                  <a:srgbClr val="3B82F6"/>
                </a:solidFill>
              </a:rPr>
              <a:t>•  Debugging — </a:t>
            </a:r>
            <a:r>
              <a:rPr sz="1400">
                <a:solidFill>
                  <a:srgbClr val="374151"/>
                </a:solidFill>
              </a:rPr>
              <a:t>identify root causes from errors</a:t>
            </a:r>
          </a:p>
          <a:p>
            <a:pPr>
              <a:spcAft>
                <a:spcPts val="800"/>
              </a:spcAft>
            </a:pPr>
            <a:r>
              <a:rPr sz="1400" b="1">
                <a:solidFill>
                  <a:srgbClr val="3B82F6"/>
                </a:solidFill>
              </a:rPr>
              <a:t>•  Refactoring — </a:t>
            </a:r>
            <a:r>
              <a:rPr sz="1400">
                <a:solidFill>
                  <a:srgbClr val="374151"/>
                </a:solidFill>
              </a:rPr>
              <a:t>restructure without changing behavior</a:t>
            </a:r>
          </a:p>
          <a:p>
            <a:pPr>
              <a:spcAft>
                <a:spcPts val="800"/>
              </a:spcAft>
            </a:pPr>
            <a:r>
              <a:rPr sz="1400" b="1">
                <a:solidFill>
                  <a:srgbClr val="3B82F6"/>
                </a:solidFill>
              </a:rPr>
              <a:t>•  Testing — </a:t>
            </a:r>
            <a:r>
              <a:rPr sz="1400">
                <a:solidFill>
                  <a:srgbClr val="374151"/>
                </a:solidFill>
              </a:rPr>
              <a:t>generate unit tests and edge cases</a:t>
            </a:r>
          </a:p>
          <a:p>
            <a:pPr>
              <a:spcAft>
                <a:spcPts val="800"/>
              </a:spcAft>
            </a:pPr>
            <a:r>
              <a:rPr sz="1400" b="1">
                <a:solidFill>
                  <a:srgbClr val="3B82F6"/>
                </a:solidFill>
              </a:rPr>
              <a:t>•  Documentation — </a:t>
            </a:r>
            <a:r>
              <a:rPr sz="1400">
                <a:solidFill>
                  <a:srgbClr val="374151"/>
                </a:solidFill>
              </a:rPr>
              <a:t>auto-generate docs and comments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04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1 — UNDERSTANDING CODING AI</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Traditional vs AI-Assisted Coding</a:t>
            </a:r>
          </a:p>
        </p:txBody>
      </p:sp>
      <p:sp>
        <p:nvSpPr>
          <p:cNvPr id="6" name="Rounded Rectangle 5"/>
          <p:cNvSpPr/>
          <p:nvPr/>
        </p:nvSpPr>
        <p:spPr>
          <a:xfrm>
            <a:off x="731520" y="1645920"/>
            <a:ext cx="5212080" cy="310896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spcAft>
                <a:spcPts val="800"/>
              </a:spcAft>
              <a:defRPr sz="1800" b="1">
                <a:solidFill>
                  <a:srgbClr val="1E40AF"/>
                </a:solidFill>
              </a:defRPr>
            </a:pPr>
            <a:r>
              <a:t>Traditional Workflow</a:t>
            </a:r>
          </a:p>
          <a:p>
            <a:pPr>
              <a:defRPr sz="1200">
                <a:solidFill>
                  <a:srgbClr val="6B7280"/>
                </a:solidFill>
              </a:defRPr>
            </a:pPr>
            <a:r>
              <a:t>Write manually → Search docs → Human-only review → Human-only test</a:t>
            </a:r>
            <a:br/>
            <a:endParaRPr/>
          </a:p>
          <a:p>
            <a:pPr>
              <a:defRPr sz="1300">
                <a:solidFill>
                  <a:srgbClr val="374151"/>
                </a:solidFill>
              </a:defRPr>
            </a:pPr>
            <a:r>
              <a:t>Strength: Full control at every step.</a:t>
            </a:r>
            <a:br/>
            <a:r>
              <a:t>Weakness: Slow for repetitive or boilerplate tasks.</a:t>
            </a:r>
          </a:p>
        </p:txBody>
      </p:sp>
      <p:sp>
        <p:nvSpPr>
          <p:cNvPr id="7" name="Rounded Rectangle 6"/>
          <p:cNvSpPr/>
          <p:nvPr/>
        </p:nvSpPr>
        <p:spPr>
          <a:xfrm>
            <a:off x="6217920" y="1645920"/>
            <a:ext cx="5212080" cy="310896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spcAft>
                <a:spcPts val="800"/>
              </a:spcAft>
              <a:defRPr sz="1800" b="1">
                <a:solidFill>
                  <a:srgbClr val="1E40AF"/>
                </a:solidFill>
              </a:defRPr>
            </a:pPr>
            <a:r>
              <a:t>AI-Assisted Workflow</a:t>
            </a:r>
          </a:p>
          <a:p>
            <a:pPr>
              <a:defRPr sz="1200">
                <a:solidFill>
                  <a:srgbClr val="6B7280"/>
                </a:solidFill>
              </a:defRPr>
            </a:pPr>
            <a:r>
              <a:t>Prompt AI → Review suggestion → Implement &amp; iterate</a:t>
            </a:r>
            <a:br/>
            <a:endParaRPr/>
          </a:p>
          <a:p>
            <a:pPr>
              <a:defRPr sz="1300">
                <a:solidFill>
                  <a:srgbClr val="374151"/>
                </a:solidFill>
              </a:defRPr>
            </a:pPr>
            <a:r>
              <a:t>Strength: Massive speed-up on standard patterns.</a:t>
            </a:r>
            <a:br/>
            <a:r>
              <a:t>Weakness: Developer must verify every output.</a:t>
            </a:r>
          </a:p>
        </p:txBody>
      </p:sp>
      <p:sp>
        <p:nvSpPr>
          <p:cNvPr id="8" name="Rounded Rectangle 7"/>
          <p:cNvSpPr/>
          <p:nvPr/>
        </p:nvSpPr>
        <p:spPr>
          <a:xfrm>
            <a:off x="731520" y="5029200"/>
            <a:ext cx="10698480" cy="1097280"/>
          </a:xfrm>
          <a:prstGeom prst="roundRect">
            <a:avLst/>
          </a:prstGeom>
          <a:solidFill>
            <a:srgbClr val="FEF8E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000" b="1">
                <a:solidFill>
                  <a:srgbClr val="F59E0B"/>
                </a:solidFill>
                <a:latin typeface="Consolas"/>
              </a:defRPr>
            </a:pPr>
            <a:r>
              <a:t>WHERE HUMANS REMAIN RESPONSIBLE</a:t>
            </a:r>
          </a:p>
          <a:p>
            <a:pPr>
              <a:defRPr sz="1300">
                <a:solidFill>
                  <a:srgbClr val="78350F"/>
                </a:solidFill>
                <a:latin typeface="Calibri"/>
              </a:defRPr>
            </a:pPr>
            <a:r>
              <a:t>Architecture decisions, security, business logic, compliance, and production readiness.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05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1 — UNDERSTANDING CODING AI</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What Can Coding AI Do?</a:t>
            </a:r>
          </a:p>
        </p:txBody>
      </p:sp>
      <p:sp>
        <p:nvSpPr>
          <p:cNvPr id="6" name="Oval 5"/>
          <p:cNvSpPr/>
          <p:nvPr/>
        </p:nvSpPr>
        <p:spPr>
          <a:xfrm>
            <a:off x="629478" y="1645919"/>
            <a:ext cx="467802" cy="471777"/>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a:t>
            </a:r>
          </a:p>
        </p:txBody>
      </p:sp>
      <p:sp>
        <p:nvSpPr>
          <p:cNvPr id="7" name="Rounded Rectangle 6"/>
          <p:cNvSpPr/>
          <p:nvPr/>
        </p:nvSpPr>
        <p:spPr>
          <a:xfrm>
            <a:off x="1188720" y="1645920"/>
            <a:ext cx="475488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Generate — </a:t>
            </a:r>
            <a:r>
              <a:rPr sz="1300">
                <a:solidFill>
                  <a:srgbClr val="374151"/>
                </a:solidFill>
              </a:rPr>
              <a:t>code from descriptions</a:t>
            </a:r>
          </a:p>
        </p:txBody>
      </p:sp>
      <p:sp>
        <p:nvSpPr>
          <p:cNvPr id="8" name="Oval 7"/>
          <p:cNvSpPr/>
          <p:nvPr/>
        </p:nvSpPr>
        <p:spPr>
          <a:xfrm>
            <a:off x="629478" y="2514599"/>
            <a:ext cx="467802" cy="471777"/>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a:t>
            </a:r>
          </a:p>
        </p:txBody>
      </p:sp>
      <p:sp>
        <p:nvSpPr>
          <p:cNvPr id="9" name="Rounded Rectangle 8"/>
          <p:cNvSpPr/>
          <p:nvPr/>
        </p:nvSpPr>
        <p:spPr>
          <a:xfrm>
            <a:off x="1188720" y="2514600"/>
            <a:ext cx="475488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Explain — </a:t>
            </a:r>
            <a:r>
              <a:rPr sz="1300">
                <a:solidFill>
                  <a:srgbClr val="374151"/>
                </a:solidFill>
              </a:rPr>
              <a:t>complex or legacy logic</a:t>
            </a:r>
          </a:p>
        </p:txBody>
      </p:sp>
      <p:sp>
        <p:nvSpPr>
          <p:cNvPr id="10" name="Oval 9"/>
          <p:cNvSpPr/>
          <p:nvPr/>
        </p:nvSpPr>
        <p:spPr>
          <a:xfrm>
            <a:off x="629478" y="3383279"/>
            <a:ext cx="467802" cy="471777"/>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a:t>
            </a:r>
          </a:p>
        </p:txBody>
      </p:sp>
      <p:sp>
        <p:nvSpPr>
          <p:cNvPr id="11" name="Rounded Rectangle 10"/>
          <p:cNvSpPr/>
          <p:nvPr/>
        </p:nvSpPr>
        <p:spPr>
          <a:xfrm>
            <a:off x="1188720" y="3383280"/>
            <a:ext cx="475488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Debug — </a:t>
            </a:r>
            <a:r>
              <a:rPr sz="1300">
                <a:solidFill>
                  <a:srgbClr val="374151"/>
                </a:solidFill>
              </a:rPr>
              <a:t>find root causes</a:t>
            </a:r>
          </a:p>
        </p:txBody>
      </p:sp>
      <p:sp>
        <p:nvSpPr>
          <p:cNvPr id="12" name="Oval 11"/>
          <p:cNvSpPr/>
          <p:nvPr/>
        </p:nvSpPr>
        <p:spPr>
          <a:xfrm>
            <a:off x="629478" y="4251958"/>
            <a:ext cx="467802" cy="471777"/>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a:t>
            </a:r>
          </a:p>
        </p:txBody>
      </p:sp>
      <p:sp>
        <p:nvSpPr>
          <p:cNvPr id="13" name="Rounded Rectangle 12"/>
          <p:cNvSpPr/>
          <p:nvPr/>
        </p:nvSpPr>
        <p:spPr>
          <a:xfrm>
            <a:off x="1188720" y="4251959"/>
            <a:ext cx="475488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Refactor — </a:t>
            </a:r>
            <a:r>
              <a:rPr sz="1300">
                <a:solidFill>
                  <a:srgbClr val="374151"/>
                </a:solidFill>
              </a:rPr>
              <a:t>modernize and simplify</a:t>
            </a:r>
          </a:p>
        </p:txBody>
      </p:sp>
      <p:sp>
        <p:nvSpPr>
          <p:cNvPr id="14" name="Oval 13"/>
          <p:cNvSpPr/>
          <p:nvPr/>
        </p:nvSpPr>
        <p:spPr>
          <a:xfrm>
            <a:off x="629478" y="5120639"/>
            <a:ext cx="467802" cy="471777"/>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5</a:t>
            </a:r>
          </a:p>
        </p:txBody>
      </p:sp>
      <p:sp>
        <p:nvSpPr>
          <p:cNvPr id="15" name="Rounded Rectangle 14"/>
          <p:cNvSpPr/>
          <p:nvPr/>
        </p:nvSpPr>
        <p:spPr>
          <a:xfrm>
            <a:off x="1188720" y="5120640"/>
            <a:ext cx="475488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Test — </a:t>
            </a:r>
            <a:r>
              <a:rPr sz="1300">
                <a:solidFill>
                  <a:srgbClr val="374151"/>
                </a:solidFill>
              </a:rPr>
              <a:t>write unit &amp; integration tests</a:t>
            </a:r>
          </a:p>
        </p:txBody>
      </p:sp>
      <p:sp>
        <p:nvSpPr>
          <p:cNvPr id="16" name="Oval 15"/>
          <p:cNvSpPr/>
          <p:nvPr/>
        </p:nvSpPr>
        <p:spPr>
          <a:xfrm>
            <a:off x="6115878" y="1645919"/>
            <a:ext cx="467802" cy="471777"/>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6</a:t>
            </a:r>
          </a:p>
        </p:txBody>
      </p:sp>
      <p:sp>
        <p:nvSpPr>
          <p:cNvPr id="17" name="Rounded Rectangle 16"/>
          <p:cNvSpPr/>
          <p:nvPr/>
        </p:nvSpPr>
        <p:spPr>
          <a:xfrm>
            <a:off x="6675120" y="1645920"/>
            <a:ext cx="475488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Document — </a:t>
            </a:r>
            <a:r>
              <a:rPr sz="1300">
                <a:solidFill>
                  <a:srgbClr val="374151"/>
                </a:solidFill>
              </a:rPr>
              <a:t>generate docs &amp; comments</a:t>
            </a:r>
          </a:p>
        </p:txBody>
      </p:sp>
      <p:sp>
        <p:nvSpPr>
          <p:cNvPr id="18" name="Oval 17"/>
          <p:cNvSpPr/>
          <p:nvPr/>
        </p:nvSpPr>
        <p:spPr>
          <a:xfrm>
            <a:off x="6115878" y="2514599"/>
            <a:ext cx="467802" cy="471777"/>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7</a:t>
            </a:r>
          </a:p>
        </p:txBody>
      </p:sp>
      <p:sp>
        <p:nvSpPr>
          <p:cNvPr id="19" name="Rounded Rectangle 18"/>
          <p:cNvSpPr/>
          <p:nvPr/>
        </p:nvSpPr>
        <p:spPr>
          <a:xfrm>
            <a:off x="6675120" y="2514600"/>
            <a:ext cx="475488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Review — </a:t>
            </a:r>
            <a:r>
              <a:rPr sz="1300">
                <a:solidFill>
                  <a:srgbClr val="374151"/>
                </a:solidFill>
              </a:rPr>
              <a:t>check best practices</a:t>
            </a:r>
          </a:p>
        </p:txBody>
      </p:sp>
      <p:sp>
        <p:nvSpPr>
          <p:cNvPr id="20" name="Oval 19"/>
          <p:cNvSpPr/>
          <p:nvPr/>
        </p:nvSpPr>
        <p:spPr>
          <a:xfrm>
            <a:off x="6115878" y="3383279"/>
            <a:ext cx="467802" cy="471777"/>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8</a:t>
            </a:r>
          </a:p>
        </p:txBody>
      </p:sp>
      <p:sp>
        <p:nvSpPr>
          <p:cNvPr id="21" name="Rounded Rectangle 20"/>
          <p:cNvSpPr/>
          <p:nvPr/>
        </p:nvSpPr>
        <p:spPr>
          <a:xfrm>
            <a:off x="6675120" y="3383280"/>
            <a:ext cx="475488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Convert — </a:t>
            </a:r>
            <a:r>
              <a:rPr sz="1300">
                <a:solidFill>
                  <a:srgbClr val="374151"/>
                </a:solidFill>
              </a:rPr>
              <a:t>between languages/frameworks</a:t>
            </a:r>
          </a:p>
        </p:txBody>
      </p:sp>
      <p:sp>
        <p:nvSpPr>
          <p:cNvPr id="22" name="Oval 21"/>
          <p:cNvSpPr/>
          <p:nvPr/>
        </p:nvSpPr>
        <p:spPr>
          <a:xfrm>
            <a:off x="6115878" y="4251958"/>
            <a:ext cx="467802" cy="471777"/>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rPr dirty="0"/>
              <a:t>9</a:t>
            </a:r>
          </a:p>
        </p:txBody>
      </p:sp>
      <p:sp>
        <p:nvSpPr>
          <p:cNvPr id="23" name="Rounded Rectangle 22"/>
          <p:cNvSpPr/>
          <p:nvPr/>
        </p:nvSpPr>
        <p:spPr>
          <a:xfrm>
            <a:off x="6675120" y="4251959"/>
            <a:ext cx="475488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Optimize — </a:t>
            </a:r>
            <a:r>
              <a:rPr sz="1300">
                <a:solidFill>
                  <a:srgbClr val="374151"/>
                </a:solidFill>
              </a:rPr>
              <a:t>performance tuning</a:t>
            </a:r>
          </a:p>
        </p:txBody>
      </p:sp>
      <p:sp>
        <p:nvSpPr>
          <p:cNvPr id="24" name="Oval 23"/>
          <p:cNvSpPr/>
          <p:nvPr/>
        </p:nvSpPr>
        <p:spPr>
          <a:xfrm>
            <a:off x="6115878" y="5120639"/>
            <a:ext cx="467802" cy="471777"/>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FFFFF"/>
                </a:solidFill>
              </a:defRPr>
            </a:pPr>
            <a:r>
              <a:rPr sz="1100" dirty="0"/>
              <a:t>10</a:t>
            </a:r>
          </a:p>
        </p:txBody>
      </p:sp>
      <p:sp>
        <p:nvSpPr>
          <p:cNvPr id="25" name="Rounded Rectangle 24"/>
          <p:cNvSpPr/>
          <p:nvPr/>
        </p:nvSpPr>
        <p:spPr>
          <a:xfrm>
            <a:off x="6675120" y="5120640"/>
            <a:ext cx="475488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Explore — </a:t>
            </a:r>
            <a:r>
              <a:rPr sz="1300">
                <a:solidFill>
                  <a:srgbClr val="374151"/>
                </a:solidFill>
              </a:rPr>
              <a:t>summarize codebases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878"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ar-EG" dirty="0"/>
              <a:t>    </a:t>
            </a:r>
            <a:endParaRPr dirty="0"/>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06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2 — TYPES OF CODING AI TOOLS</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The AI Coding Workflow</a:t>
            </a:r>
          </a:p>
        </p:txBody>
      </p:sp>
      <p:sp>
        <p:nvSpPr>
          <p:cNvPr id="6" name="Oval 5"/>
          <p:cNvSpPr/>
          <p:nvPr/>
        </p:nvSpPr>
        <p:spPr>
          <a:xfrm>
            <a:off x="731520" y="146304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7" name="Rounded Rectangle 6"/>
          <p:cNvSpPr/>
          <p:nvPr/>
        </p:nvSpPr>
        <p:spPr>
          <a:xfrm>
            <a:off x="1234440" y="1463040"/>
            <a:ext cx="10195560" cy="45720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Requirement — </a:t>
            </a:r>
            <a:r>
              <a:rPr sz="1300">
                <a:solidFill>
                  <a:srgbClr val="374151"/>
                </a:solidFill>
              </a:rPr>
              <a:t>What do we need to build or fix?</a:t>
            </a:r>
          </a:p>
        </p:txBody>
      </p:sp>
      <p:sp>
        <p:nvSpPr>
          <p:cNvPr id="8" name="Oval 7"/>
          <p:cNvSpPr/>
          <p:nvPr/>
        </p:nvSpPr>
        <p:spPr>
          <a:xfrm>
            <a:off x="731520" y="205740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9" name="Rounded Rectangle 8"/>
          <p:cNvSpPr/>
          <p:nvPr/>
        </p:nvSpPr>
        <p:spPr>
          <a:xfrm>
            <a:off x="1234440" y="2057400"/>
            <a:ext cx="10195560" cy="45720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Understand — </a:t>
            </a:r>
            <a:r>
              <a:rPr sz="1300">
                <a:solidFill>
                  <a:srgbClr val="374151"/>
                </a:solidFill>
              </a:rPr>
              <a:t>Gather context (files, schema, errors)</a:t>
            </a:r>
          </a:p>
        </p:txBody>
      </p:sp>
      <p:sp>
        <p:nvSpPr>
          <p:cNvPr id="10" name="Oval 9"/>
          <p:cNvSpPr/>
          <p:nvPr/>
        </p:nvSpPr>
        <p:spPr>
          <a:xfrm>
            <a:off x="731520" y="265176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1" name="Rounded Rectangle 10"/>
          <p:cNvSpPr/>
          <p:nvPr/>
        </p:nvSpPr>
        <p:spPr>
          <a:xfrm>
            <a:off x="1234440" y="2651760"/>
            <a:ext cx="10195560" cy="45720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Plan — </a:t>
            </a:r>
            <a:r>
              <a:rPr sz="1300">
                <a:solidFill>
                  <a:srgbClr val="374151"/>
                </a:solidFill>
              </a:rPr>
              <a:t>Design the approach before prompting</a:t>
            </a:r>
          </a:p>
        </p:txBody>
      </p:sp>
      <p:sp>
        <p:nvSpPr>
          <p:cNvPr id="12" name="Oval 11"/>
          <p:cNvSpPr/>
          <p:nvPr/>
        </p:nvSpPr>
        <p:spPr>
          <a:xfrm>
            <a:off x="731520" y="324612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3" name="Rounded Rectangle 12"/>
          <p:cNvSpPr/>
          <p:nvPr/>
        </p:nvSpPr>
        <p:spPr>
          <a:xfrm>
            <a:off x="1234440" y="3246120"/>
            <a:ext cx="10195560" cy="45720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Prompt — </a:t>
            </a:r>
            <a:r>
              <a:rPr sz="1300">
                <a:solidFill>
                  <a:srgbClr val="374151"/>
                </a:solidFill>
              </a:rPr>
              <a:t>Instruct the AI with professional structure</a:t>
            </a:r>
          </a:p>
        </p:txBody>
      </p:sp>
      <p:sp>
        <p:nvSpPr>
          <p:cNvPr id="14" name="Oval 13"/>
          <p:cNvSpPr/>
          <p:nvPr/>
        </p:nvSpPr>
        <p:spPr>
          <a:xfrm>
            <a:off x="731520" y="384048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15" name="Rounded Rectangle 14"/>
          <p:cNvSpPr/>
          <p:nvPr/>
        </p:nvSpPr>
        <p:spPr>
          <a:xfrm>
            <a:off x="1234440" y="3840480"/>
            <a:ext cx="10195560" cy="45720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Generate — </a:t>
            </a:r>
            <a:r>
              <a:rPr sz="1300">
                <a:solidFill>
                  <a:srgbClr val="374151"/>
                </a:solidFill>
              </a:rPr>
              <a:t>AI creates the code</a:t>
            </a:r>
          </a:p>
        </p:txBody>
      </p:sp>
      <p:sp>
        <p:nvSpPr>
          <p:cNvPr id="16" name="Oval 15"/>
          <p:cNvSpPr/>
          <p:nvPr/>
        </p:nvSpPr>
        <p:spPr>
          <a:xfrm>
            <a:off x="731520" y="443484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6</a:t>
            </a:r>
          </a:p>
        </p:txBody>
      </p:sp>
      <p:sp>
        <p:nvSpPr>
          <p:cNvPr id="17" name="Rounded Rectangle 16"/>
          <p:cNvSpPr/>
          <p:nvPr/>
        </p:nvSpPr>
        <p:spPr>
          <a:xfrm>
            <a:off x="1234440" y="4434840"/>
            <a:ext cx="10195560" cy="45720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Review — </a:t>
            </a:r>
            <a:r>
              <a:rPr sz="1300">
                <a:solidFill>
                  <a:srgbClr val="374151"/>
                </a:solidFill>
              </a:rPr>
              <a:t>Human verifies correctness &amp; security</a:t>
            </a:r>
          </a:p>
        </p:txBody>
      </p:sp>
      <p:sp>
        <p:nvSpPr>
          <p:cNvPr id="18" name="Oval 17"/>
          <p:cNvSpPr/>
          <p:nvPr/>
        </p:nvSpPr>
        <p:spPr>
          <a:xfrm>
            <a:off x="731520" y="502920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7</a:t>
            </a:r>
          </a:p>
        </p:txBody>
      </p:sp>
      <p:sp>
        <p:nvSpPr>
          <p:cNvPr id="19" name="Rounded Rectangle 18"/>
          <p:cNvSpPr/>
          <p:nvPr/>
        </p:nvSpPr>
        <p:spPr>
          <a:xfrm>
            <a:off x="1234440" y="5029200"/>
            <a:ext cx="10195560" cy="45720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Test — </a:t>
            </a:r>
            <a:r>
              <a:rPr sz="1300">
                <a:solidFill>
                  <a:srgbClr val="374151"/>
                </a:solidFill>
              </a:rPr>
              <a:t>Run and validate behavior</a:t>
            </a:r>
          </a:p>
        </p:txBody>
      </p:sp>
      <p:sp>
        <p:nvSpPr>
          <p:cNvPr id="20" name="Oval 19"/>
          <p:cNvSpPr/>
          <p:nvPr/>
        </p:nvSpPr>
        <p:spPr>
          <a:xfrm>
            <a:off x="731520" y="562356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a:t>
            </a:r>
          </a:p>
        </p:txBody>
      </p:sp>
      <p:sp>
        <p:nvSpPr>
          <p:cNvPr id="21" name="Rounded Rectangle 20"/>
          <p:cNvSpPr/>
          <p:nvPr/>
        </p:nvSpPr>
        <p:spPr>
          <a:xfrm>
            <a:off x="1234440" y="5623560"/>
            <a:ext cx="10195560" cy="45720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Refine — </a:t>
            </a:r>
            <a:r>
              <a:rPr sz="1300">
                <a:solidFill>
                  <a:srgbClr val="374151"/>
                </a:solidFill>
              </a:rPr>
              <a:t>Loop back to Prompt if needed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07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2 — TYPES OF CODING AI TOOLS</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4 Main Categories of AI Tools</a:t>
            </a:r>
          </a:p>
        </p:txBody>
      </p:sp>
      <p:sp>
        <p:nvSpPr>
          <p:cNvPr id="6" name="Rounded Rectangle 5"/>
          <p:cNvSpPr/>
          <p:nvPr/>
        </p:nvSpPr>
        <p:spPr>
          <a:xfrm>
            <a:off x="731520" y="1645920"/>
            <a:ext cx="5120640" cy="210312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spcAft>
                <a:spcPts val="600"/>
              </a:spcAft>
              <a:defRPr sz="1600" b="1">
                <a:solidFill>
                  <a:srgbClr val="1E40AF"/>
                </a:solidFill>
              </a:defRPr>
            </a:pPr>
            <a:r>
              <a:t>1. AI Chat Assistants</a:t>
            </a:r>
          </a:p>
          <a:p>
            <a:pPr>
              <a:defRPr sz="1300">
                <a:solidFill>
                  <a:srgbClr val="374151"/>
                </a:solidFill>
              </a:defRPr>
            </a:pPr>
            <a:r>
              <a:t>General reasoning, architecture discussions, debugging help.</a:t>
            </a:r>
          </a:p>
          <a:p>
            <a:pPr>
              <a:spcBef>
                <a:spcPts val="600"/>
              </a:spcBef>
              <a:defRPr sz="1100">
                <a:solidFill>
                  <a:srgbClr val="6B7280"/>
                </a:solidFill>
              </a:defRPr>
            </a:pPr>
            <a:r>
              <a:t>Example: ChatGPT, Claude, Gemini</a:t>
            </a:r>
          </a:p>
        </p:txBody>
      </p:sp>
      <p:sp>
        <p:nvSpPr>
          <p:cNvPr id="7" name="Rounded Rectangle 6"/>
          <p:cNvSpPr/>
          <p:nvPr/>
        </p:nvSpPr>
        <p:spPr>
          <a:xfrm>
            <a:off x="6126480" y="1645920"/>
            <a:ext cx="5120640" cy="210312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spcAft>
                <a:spcPts val="600"/>
              </a:spcAft>
              <a:defRPr sz="1600" b="1">
                <a:solidFill>
                  <a:srgbClr val="1E40AF"/>
                </a:solidFill>
              </a:defRPr>
            </a:pPr>
            <a:r>
              <a:t>2. AI Coding Assistants</a:t>
            </a:r>
          </a:p>
          <a:p>
            <a:pPr>
              <a:defRPr sz="1300">
                <a:solidFill>
                  <a:srgbClr val="374151"/>
                </a:solidFill>
              </a:defRPr>
            </a:pPr>
            <a:r>
              <a:t>Inline suggestions, code completion, IDE-integrated.</a:t>
            </a:r>
          </a:p>
          <a:p>
            <a:pPr>
              <a:spcBef>
                <a:spcPts val="600"/>
              </a:spcBef>
              <a:defRPr sz="1100">
                <a:solidFill>
                  <a:srgbClr val="6B7280"/>
                </a:solidFill>
              </a:defRPr>
            </a:pPr>
            <a:r>
              <a:t>Example: GitHub Copilot</a:t>
            </a:r>
          </a:p>
        </p:txBody>
      </p:sp>
      <p:sp>
        <p:nvSpPr>
          <p:cNvPr id="8" name="Rounded Rectangle 7"/>
          <p:cNvSpPr/>
          <p:nvPr/>
        </p:nvSpPr>
        <p:spPr>
          <a:xfrm>
            <a:off x="731520" y="4023360"/>
            <a:ext cx="5120640" cy="210312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spcAft>
                <a:spcPts val="600"/>
              </a:spcAft>
              <a:defRPr sz="1600" b="1">
                <a:solidFill>
                  <a:srgbClr val="1E40AF"/>
                </a:solidFill>
              </a:defRPr>
            </a:pPr>
            <a:r>
              <a:t>3. AI Coding Agents</a:t>
            </a:r>
          </a:p>
          <a:p>
            <a:pPr>
              <a:defRPr sz="1300">
                <a:solidFill>
                  <a:srgbClr val="374151"/>
                </a:solidFill>
              </a:defRPr>
            </a:pPr>
            <a:r>
              <a:t>Understand repos, modify multiple files, run tests, iterate.</a:t>
            </a:r>
          </a:p>
        </p:txBody>
      </p:sp>
      <p:sp>
        <p:nvSpPr>
          <p:cNvPr id="9" name="Rounded Rectangle 8"/>
          <p:cNvSpPr/>
          <p:nvPr/>
        </p:nvSpPr>
        <p:spPr>
          <a:xfrm>
            <a:off x="6126480" y="4023360"/>
            <a:ext cx="5120640" cy="210312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spcAft>
                <a:spcPts val="600"/>
              </a:spcAft>
              <a:defRPr sz="1600" b="1">
                <a:solidFill>
                  <a:srgbClr val="1E40AF"/>
                </a:solidFill>
              </a:defRPr>
            </a:pPr>
            <a:r>
              <a:t>4. AI-Native IDEs</a:t>
            </a:r>
          </a:p>
          <a:p>
            <a:pPr>
              <a:defRPr sz="1300">
                <a:solidFill>
                  <a:srgbClr val="374151"/>
                </a:solidFill>
              </a:defRPr>
            </a:pPr>
            <a:r>
              <a:t>AI deeply integrated with project-wide context and multi-file changes.</a:t>
            </a:r>
          </a:p>
          <a:p>
            <a:pPr>
              <a:spcBef>
                <a:spcPts val="600"/>
              </a:spcBef>
              <a:defRPr sz="1100">
                <a:solidFill>
                  <a:srgbClr val="6B7280"/>
                </a:solidFill>
              </a:defRPr>
            </a:pPr>
            <a:r>
              <a:t>Example: Cursor, Windsurf</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08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2 — TYPES OF CODING AI TOOLS</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AI Assistant vs AI Agent</a:t>
            </a:r>
          </a:p>
        </p:txBody>
      </p:sp>
      <p:sp>
        <p:nvSpPr>
          <p:cNvPr id="6" name="Rounded Rectangle 5"/>
          <p:cNvSpPr/>
          <p:nvPr/>
        </p:nvSpPr>
        <p:spPr>
          <a:xfrm>
            <a:off x="731520" y="1645920"/>
            <a:ext cx="10698480" cy="1097280"/>
          </a:xfrm>
          <a:prstGeom prst="roundRect">
            <a:avLst/>
          </a:prstGeom>
          <a:solidFill>
            <a:srgbClr val="FEF8E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spcAft>
                <a:spcPts val="400"/>
              </a:spcAft>
              <a:defRPr sz="1000" b="1">
                <a:solidFill>
                  <a:srgbClr val="F59E0B"/>
                </a:solidFill>
                <a:latin typeface="Consolas"/>
              </a:defRPr>
            </a:pPr>
            <a:r>
              <a:rPr dirty="0"/>
              <a:t>KEY DIFFERENCE</a:t>
            </a:r>
          </a:p>
          <a:p>
            <a:pPr>
              <a:defRPr sz="1300">
                <a:solidFill>
                  <a:srgbClr val="78350F"/>
                </a:solidFill>
                <a:latin typeface="Calibri"/>
              </a:defRPr>
            </a:pPr>
            <a:r>
              <a:rPr dirty="0"/>
              <a:t>Assistant = helps you write code.</a:t>
            </a:r>
            <a:br>
              <a:rPr dirty="0"/>
            </a:br>
            <a:r>
              <a:rPr dirty="0"/>
              <a:t>Agent = executes a workflow for you.</a:t>
            </a:r>
          </a:p>
        </p:txBody>
      </p:sp>
      <p:sp>
        <p:nvSpPr>
          <p:cNvPr id="7" name="Rounded Rectangle 6"/>
          <p:cNvSpPr/>
          <p:nvPr/>
        </p:nvSpPr>
        <p:spPr>
          <a:xfrm>
            <a:off x="731520" y="3017520"/>
            <a:ext cx="5212080" cy="32918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40AF"/>
                </a:solidFill>
              </a:defRPr>
            </a:pPr>
            <a:r>
              <a:t>Assistant Flow</a:t>
            </a:r>
          </a:p>
        </p:txBody>
      </p:sp>
      <p:sp>
        <p:nvSpPr>
          <p:cNvPr id="8" name="Rectangle 7"/>
          <p:cNvSpPr/>
          <p:nvPr/>
        </p:nvSpPr>
        <p:spPr>
          <a:xfrm>
            <a:off x="1005840" y="3703320"/>
            <a:ext cx="4663440" cy="2377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300">
                <a:solidFill>
                  <a:srgbClr val="E2E8F0"/>
                </a:solidFill>
                <a:latin typeface="Consolas"/>
              </a:defRPr>
            </a:pPr>
            <a:r>
              <a:t>Developer → Ask AI</a:t>
            </a:r>
            <a:br/>
            <a:r>
              <a:t>    → AI Suggests</a:t>
            </a:r>
            <a:br/>
            <a:r>
              <a:t>    → Developer Implements</a:t>
            </a:r>
          </a:p>
        </p:txBody>
      </p:sp>
      <p:sp>
        <p:nvSpPr>
          <p:cNvPr id="9" name="Rounded Rectangle 8"/>
          <p:cNvSpPr/>
          <p:nvPr/>
        </p:nvSpPr>
        <p:spPr>
          <a:xfrm>
            <a:off x="6217920" y="3017520"/>
            <a:ext cx="5212080" cy="32918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40AF"/>
                </a:solidFill>
              </a:defRPr>
            </a:pPr>
            <a:r>
              <a:t>Agent Flow</a:t>
            </a:r>
          </a:p>
        </p:txBody>
      </p:sp>
      <p:sp>
        <p:nvSpPr>
          <p:cNvPr id="10" name="Rectangle 9"/>
          <p:cNvSpPr/>
          <p:nvPr/>
        </p:nvSpPr>
        <p:spPr>
          <a:xfrm>
            <a:off x="6492240" y="3657600"/>
            <a:ext cx="4663440" cy="2377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1200">
                <a:solidFill>
                  <a:srgbClr val="E2E8F0"/>
                </a:solidFill>
                <a:latin typeface="Consolas"/>
              </a:defRPr>
            </a:pPr>
            <a:r>
              <a:t>Developer → Give Task</a:t>
            </a:r>
            <a:br/>
            <a:r>
              <a:t>    → Agent Explores</a:t>
            </a:r>
            <a:br/>
            <a:r>
              <a:t>    → Agent Plans</a:t>
            </a:r>
            <a:br/>
            <a:r>
              <a:t>    → Agent Modifies</a:t>
            </a:r>
            <a:br/>
            <a:r>
              <a:t>    → Agent Tests</a:t>
            </a:r>
            <a:br/>
            <a:r>
              <a:t>    → Agent Reports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09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2 — TYPES OF CODING AI TOOLS</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Choosing the Right AI Tool</a:t>
            </a:r>
          </a:p>
        </p:txBody>
      </p:sp>
      <p:sp>
        <p:nvSpPr>
          <p:cNvPr id="6" name="TextBox 5"/>
          <p:cNvSpPr txBox="1"/>
          <p:nvPr/>
        </p:nvSpPr>
        <p:spPr>
          <a:xfrm>
            <a:off x="731520" y="1463040"/>
            <a:ext cx="10698480" cy="457200"/>
          </a:xfrm>
          <a:prstGeom prst="rect">
            <a:avLst/>
          </a:prstGeom>
          <a:noFill/>
        </p:spPr>
        <p:txBody>
          <a:bodyPr wrap="none">
            <a:spAutoFit/>
          </a:bodyPr>
          <a:lstStyle/>
          <a:p>
            <a:pPr>
              <a:defRPr sz="1500">
                <a:solidFill>
                  <a:srgbClr val="6B7280"/>
                </a:solidFill>
              </a:defRPr>
            </a:pPr>
            <a:r>
              <a:t>Choose based on capabilities, not brand popularity.</a:t>
            </a:r>
          </a:p>
        </p:txBody>
      </p:sp>
      <p:graphicFrame>
        <p:nvGraphicFramePr>
          <p:cNvPr id="7" name="Table 6"/>
          <p:cNvGraphicFramePr>
            <a:graphicFrameLocks noGrp="1"/>
          </p:cNvGraphicFramePr>
          <p:nvPr>
            <p:extLst>
              <p:ext uri="{D42A27DB-BD31-4B8C-83A1-F6EECF244321}">
                <p14:modId xmlns:p14="http://schemas.microsoft.com/office/powerpoint/2010/main" val="3462243225"/>
              </p:ext>
            </p:extLst>
          </p:nvPr>
        </p:nvGraphicFramePr>
        <p:xfrm>
          <a:off x="731520" y="2011680"/>
          <a:ext cx="10698480" cy="4114800"/>
        </p:xfrm>
        <a:graphic>
          <a:graphicData uri="http://schemas.openxmlformats.org/drawingml/2006/table">
            <a:tbl>
              <a:tblPr firstRow="1" bandRow="1">
                <a:tableStyleId>{5C22544A-7EE6-4342-B048-85BDC9FD1C3A}</a:tableStyleId>
              </a:tblPr>
              <a:tblGrid>
                <a:gridCol w="5349240">
                  <a:extLst>
                    <a:ext uri="{9D8B030D-6E8A-4147-A177-3AD203B41FA5}">
                      <a16:colId xmlns:a16="http://schemas.microsoft.com/office/drawing/2014/main" val="20000"/>
                    </a:ext>
                  </a:extLst>
                </a:gridCol>
                <a:gridCol w="5349240">
                  <a:extLst>
                    <a:ext uri="{9D8B030D-6E8A-4147-A177-3AD203B41FA5}">
                      <a16:colId xmlns:a16="http://schemas.microsoft.com/office/drawing/2014/main" val="20001"/>
                    </a:ext>
                  </a:extLst>
                </a:gridCol>
              </a:tblGrid>
              <a:tr h="514350">
                <a:tc>
                  <a:txBody>
                    <a:bodyPr/>
                    <a:lstStyle/>
                    <a:p>
                      <a:pPr algn="ctr">
                        <a:defRPr sz="1400" b="1">
                          <a:solidFill>
                            <a:srgbClr val="FFFFFF"/>
                          </a:solidFill>
                        </a:defRPr>
                      </a:pPr>
                      <a:r>
                        <a:rPr dirty="0"/>
                        <a:t>Need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40AF"/>
                    </a:solidFill>
                  </a:tcPr>
                </a:tc>
                <a:tc>
                  <a:txBody>
                    <a:bodyPr/>
                    <a:lstStyle/>
                    <a:p>
                      <a:pPr algn="ctr">
                        <a:defRPr sz="1400" b="1">
                          <a:solidFill>
                            <a:srgbClr val="FFFFFF"/>
                          </a:solidFill>
                        </a:defRPr>
                      </a:pPr>
                      <a:r>
                        <a:rPr dirty="0"/>
                        <a:t>Look for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40AF"/>
                    </a:solidFill>
                  </a:tcPr>
                </a:tc>
                <a:extLst>
                  <a:ext uri="{0D108BD9-81ED-4DB2-BD59-A6C34878D82A}">
                    <a16:rowId xmlns:a16="http://schemas.microsoft.com/office/drawing/2014/main" val="10000"/>
                  </a:ext>
                </a:extLst>
              </a:tr>
              <a:tr h="514350">
                <a:tc>
                  <a:txBody>
                    <a:bodyPr/>
                    <a:lstStyle/>
                    <a:p>
                      <a:pPr>
                        <a:defRPr sz="1200">
                          <a:solidFill>
                            <a:srgbClr val="374151"/>
                          </a:solidFill>
                        </a:defRPr>
                      </a:pPr>
                      <a:r>
                        <a:rPr dirty="0"/>
                        <a:t>Quick code question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defRPr sz="1200">
                          <a:solidFill>
                            <a:srgbClr val="374151"/>
                          </a:solidFill>
                        </a:defRPr>
                      </a:pPr>
                      <a:r>
                        <a:t>Chat assistant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4350">
                <a:tc>
                  <a:txBody>
                    <a:bodyPr/>
                    <a:lstStyle/>
                    <a:p>
                      <a:pPr>
                        <a:defRPr sz="1200">
                          <a:solidFill>
                            <a:srgbClr val="374151"/>
                          </a:solidFill>
                        </a:defRPr>
                      </a:pPr>
                      <a:r>
                        <a:rPr dirty="0"/>
                        <a:t>Code completion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defRPr sz="1200">
                          <a:solidFill>
                            <a:srgbClr val="374151"/>
                          </a:solidFill>
                        </a:defRPr>
                      </a:pPr>
                      <a:r>
                        <a:t>IDE assistant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4350">
                <a:tc>
                  <a:txBody>
                    <a:bodyPr/>
                    <a:lstStyle/>
                    <a:p>
                      <a:pPr>
                        <a:defRPr sz="1200">
                          <a:solidFill>
                            <a:srgbClr val="374151"/>
                          </a:solidFill>
                        </a:defRPr>
                      </a:pPr>
                      <a:r>
                        <a:t>Large codebase 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defRPr sz="1200">
                          <a:solidFill>
                            <a:srgbClr val="374151"/>
                          </a:solidFill>
                        </a:defRPr>
                      </a:pPr>
                      <a:r>
                        <a:t>Large-context tool / Agent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4350">
                <a:tc>
                  <a:txBody>
                    <a:bodyPr/>
                    <a:lstStyle/>
                    <a:p>
                      <a:pPr>
                        <a:defRPr sz="1200">
                          <a:solidFill>
                            <a:srgbClr val="374151"/>
                          </a:solidFill>
                        </a:defRPr>
                      </a:pPr>
                      <a:r>
                        <a:t>Multi-file changes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defRPr sz="1200">
                          <a:solidFill>
                            <a:srgbClr val="374151"/>
                          </a:solidFill>
                        </a:defRPr>
                      </a:pPr>
                      <a:r>
                        <a:t>Coding agent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4350">
                <a:tc>
                  <a:txBody>
                    <a:bodyPr/>
                    <a:lstStyle/>
                    <a:p>
                      <a:pPr>
                        <a:defRPr sz="1200">
                          <a:solidFill>
                            <a:srgbClr val="374151"/>
                          </a:solidFill>
                        </a:defRPr>
                      </a:pPr>
                      <a:r>
                        <a:t>Debugging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defRPr sz="1200">
                          <a:solidFill>
                            <a:srgbClr val="374151"/>
                          </a:solidFill>
                        </a:defRPr>
                      </a:pPr>
                      <a:r>
                        <a:t>Reasoning-focused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4350">
                <a:tc>
                  <a:txBody>
                    <a:bodyPr/>
                    <a:lstStyle/>
                    <a:p>
                      <a:pPr>
                        <a:defRPr sz="1200">
                          <a:solidFill>
                            <a:srgbClr val="374151"/>
                          </a:solidFill>
                        </a:defRPr>
                      </a:pPr>
                      <a:r>
                        <a:t>Automated implementation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defRPr sz="1200">
                          <a:solidFill>
                            <a:srgbClr val="374151"/>
                          </a:solidFill>
                        </a:defRPr>
                      </a:pPr>
                      <a:r>
                        <a:t>Coding agent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14350">
                <a:tc>
                  <a:txBody>
                    <a:bodyPr/>
                    <a:lstStyle/>
                    <a:p>
                      <a:pPr>
                        <a:defRPr sz="1200">
                          <a:solidFill>
                            <a:srgbClr val="374151"/>
                          </a:solidFill>
                        </a:defRPr>
                      </a:pPr>
                      <a:r>
                        <a:t>Architecture discussion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defRPr sz="1200">
                          <a:solidFill>
                            <a:srgbClr val="374151"/>
                          </a:solidFill>
                        </a:defRPr>
                      </a:pPr>
                      <a:r>
                        <a:rPr dirty="0"/>
                        <a:t>Chat / reasoning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10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3 — WHEN TO USE AI</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When to Use (and Avoid) AI</a:t>
            </a:r>
          </a:p>
        </p:txBody>
      </p:sp>
      <p:sp>
        <p:nvSpPr>
          <p:cNvPr id="6" name="Rounded Rectangle 5"/>
          <p:cNvSpPr/>
          <p:nvPr/>
        </p:nvSpPr>
        <p:spPr>
          <a:xfrm>
            <a:off x="731520" y="1645920"/>
            <a:ext cx="5212080" cy="347472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059669"/>
                </a:solidFill>
              </a:defRPr>
            </a:pPr>
            <a:r>
              <a:t>✓ Great Use Cases</a:t>
            </a:r>
          </a:p>
          <a:p>
            <a:pPr>
              <a:spcAft>
                <a:spcPts val="400"/>
              </a:spcAft>
              <a:defRPr sz="1300">
                <a:solidFill>
                  <a:srgbClr val="374151"/>
                </a:solidFill>
              </a:defRPr>
            </a:pPr>
            <a:r>
              <a:t>• Writing boilerplate &amp; CRUD APIs</a:t>
            </a:r>
          </a:p>
          <a:p>
            <a:pPr>
              <a:spcAft>
                <a:spcPts val="400"/>
              </a:spcAft>
              <a:defRPr sz="1300">
                <a:solidFill>
                  <a:srgbClr val="374151"/>
                </a:solidFill>
              </a:defRPr>
            </a:pPr>
            <a:r>
              <a:t>• Generating unit tests</a:t>
            </a:r>
          </a:p>
          <a:p>
            <a:pPr>
              <a:spcAft>
                <a:spcPts val="400"/>
              </a:spcAft>
              <a:defRPr sz="1300">
                <a:solidFill>
                  <a:srgbClr val="374151"/>
                </a:solidFill>
              </a:defRPr>
            </a:pPr>
            <a:r>
              <a:t>• Refactoring &amp; modernizing code</a:t>
            </a:r>
          </a:p>
          <a:p>
            <a:pPr>
              <a:spcAft>
                <a:spcPts val="400"/>
              </a:spcAft>
              <a:defRPr sz="1300">
                <a:solidFill>
                  <a:srgbClr val="374151"/>
                </a:solidFill>
              </a:defRPr>
            </a:pPr>
            <a:r>
              <a:t>• Debugging with stack traces</a:t>
            </a:r>
          </a:p>
          <a:p>
            <a:pPr>
              <a:spcAft>
                <a:spcPts val="400"/>
              </a:spcAft>
              <a:defRPr sz="1300">
                <a:solidFill>
                  <a:srgbClr val="374151"/>
                </a:solidFill>
              </a:defRPr>
            </a:pPr>
            <a:r>
              <a:t>• Writing SQL &amp; Regex</a:t>
            </a:r>
          </a:p>
          <a:p>
            <a:pPr>
              <a:spcAft>
                <a:spcPts val="400"/>
              </a:spcAft>
              <a:defRPr sz="1300">
                <a:solidFill>
                  <a:srgbClr val="374151"/>
                </a:solidFill>
              </a:defRPr>
            </a:pPr>
            <a:r>
              <a:t>• Exploring unfamiliar codebases</a:t>
            </a:r>
          </a:p>
        </p:txBody>
      </p:sp>
      <p:sp>
        <p:nvSpPr>
          <p:cNvPr id="7" name="Rounded Rectangle 6"/>
          <p:cNvSpPr/>
          <p:nvPr/>
        </p:nvSpPr>
        <p:spPr>
          <a:xfrm>
            <a:off x="6217920" y="1645920"/>
            <a:ext cx="5212080" cy="3474720"/>
          </a:xfrm>
          <a:prstGeom prst="roundRect">
            <a:avLst/>
          </a:prstGeom>
          <a:solidFill>
            <a:srgbClr val="FEF2F2"/>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7F1D1D"/>
                </a:solidFill>
              </a:defRPr>
            </a:pPr>
            <a:r>
              <a:t>⚠ Avoid Blindly For</a:t>
            </a:r>
          </a:p>
          <a:p>
            <a:pPr>
              <a:spcAft>
                <a:spcPts val="400"/>
              </a:spcAft>
              <a:defRPr sz="1300">
                <a:solidFill>
                  <a:srgbClr val="374151"/>
                </a:solidFill>
              </a:defRPr>
            </a:pPr>
            <a:r>
              <a:t>• Security-critical decisions</a:t>
            </a:r>
          </a:p>
          <a:p>
            <a:pPr>
              <a:spcAft>
                <a:spcPts val="400"/>
              </a:spcAft>
              <a:defRPr sz="1300">
                <a:solidFill>
                  <a:srgbClr val="374151"/>
                </a:solidFill>
              </a:defRPr>
            </a:pPr>
            <a:r>
              <a:t>• Production architecture</a:t>
            </a:r>
          </a:p>
          <a:p>
            <a:pPr>
              <a:spcAft>
                <a:spcPts val="400"/>
              </a:spcAft>
              <a:defRPr sz="1300">
                <a:solidFill>
                  <a:srgbClr val="374151"/>
                </a:solidFill>
              </a:defRPr>
            </a:pPr>
            <a:r>
              <a:t>• Sensitive credentials / PII</a:t>
            </a:r>
          </a:p>
          <a:p>
            <a:pPr>
              <a:spcAft>
                <a:spcPts val="400"/>
              </a:spcAft>
              <a:defRPr sz="1300">
                <a:solidFill>
                  <a:srgbClr val="374151"/>
                </a:solidFill>
              </a:defRPr>
            </a:pPr>
            <a:r>
              <a:t>• Confidential source code</a:t>
            </a:r>
          </a:p>
          <a:p>
            <a:pPr>
              <a:spcAft>
                <a:spcPts val="400"/>
              </a:spcAft>
              <a:defRPr sz="1300">
                <a:solidFill>
                  <a:srgbClr val="374151"/>
                </a:solidFill>
              </a:defRPr>
            </a:pPr>
            <a:r>
              <a:t>• Financial logic</a:t>
            </a:r>
          </a:p>
          <a:p>
            <a:pPr>
              <a:spcAft>
                <a:spcPts val="400"/>
              </a:spcAft>
              <a:defRPr sz="1300">
                <a:solidFill>
                  <a:srgbClr val="374151"/>
                </a:solidFill>
              </a:defRPr>
            </a:pPr>
            <a:r>
              <a:t>• Compliance requirements</a:t>
            </a:r>
          </a:p>
        </p:txBody>
      </p:sp>
      <p:sp>
        <p:nvSpPr>
          <p:cNvPr id="8" name="Rounded Rectangle 7"/>
          <p:cNvSpPr/>
          <p:nvPr/>
        </p:nvSpPr>
        <p:spPr>
          <a:xfrm>
            <a:off x="731520" y="5303520"/>
            <a:ext cx="10698480" cy="1005840"/>
          </a:xfrm>
          <a:prstGeom prst="roundRect">
            <a:avLst/>
          </a:prstGeom>
          <a:solidFill>
            <a:srgbClr val="FEF2F2"/>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000" b="1">
                <a:solidFill>
                  <a:srgbClr val="EF4444"/>
                </a:solidFill>
                <a:latin typeface="Consolas"/>
              </a:defRPr>
            </a:pPr>
            <a:r>
              <a:t>RULE</a:t>
            </a:r>
          </a:p>
          <a:p>
            <a:pPr>
              <a:defRPr sz="1300">
                <a:solidFill>
                  <a:srgbClr val="7F1D1D"/>
                </a:solidFill>
                <a:latin typeface="Calibri"/>
              </a:defRPr>
            </a:pPr>
            <a:r>
              <a:t>The higher the risk, the higher the required human verification.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11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3 — WHEN TO USE AI</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Risks &amp; Developer Responsibility</a:t>
            </a:r>
          </a:p>
        </p:txBody>
      </p:sp>
      <p:sp>
        <p:nvSpPr>
          <p:cNvPr id="6" name="Rounded Rectangle 5"/>
          <p:cNvSpPr/>
          <p:nvPr/>
        </p:nvSpPr>
        <p:spPr>
          <a:xfrm>
            <a:off x="731520" y="1645920"/>
            <a:ext cx="10698480" cy="1188720"/>
          </a:xfrm>
          <a:prstGeom prst="roundRect">
            <a:avLst/>
          </a:prstGeom>
          <a:solidFill>
            <a:srgbClr val="FEF2F2"/>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000" b="1">
                <a:solidFill>
                  <a:srgbClr val="EF4444"/>
                </a:solidFill>
                <a:latin typeface="Consolas"/>
              </a:defRPr>
            </a:pPr>
            <a:r>
              <a:t>GOLDEN RULE</a:t>
            </a:r>
          </a:p>
          <a:p>
            <a:pPr>
              <a:defRPr sz="1300">
                <a:solidFill>
                  <a:srgbClr val="7F1D1D"/>
                </a:solidFill>
                <a:latin typeface="Calibri"/>
              </a:defRPr>
            </a:pPr>
            <a:r>
              <a:t>AI generates. Developer decides. AI code is a draft from a brilliant junior who never sleeps and never tells you when they're guessing. Treat it accordingly.</a:t>
            </a:r>
          </a:p>
        </p:txBody>
      </p:sp>
      <p:sp>
        <p:nvSpPr>
          <p:cNvPr id="7" name="Rounded Rectangle 6"/>
          <p:cNvSpPr/>
          <p:nvPr/>
        </p:nvSpPr>
        <p:spPr>
          <a:xfrm>
            <a:off x="731520" y="3017520"/>
            <a:ext cx="5212080" cy="32918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1E40AF"/>
                </a:solidFill>
              </a:defRPr>
            </a:pPr>
            <a:r>
              <a:t>Key Risks</a:t>
            </a:r>
          </a:p>
          <a:p>
            <a:pPr>
              <a:spcAft>
                <a:spcPts val="600"/>
              </a:spcAft>
            </a:pPr>
            <a:r>
              <a:rPr sz="1200" b="1">
                <a:solidFill>
                  <a:srgbClr val="374151"/>
                </a:solidFill>
              </a:rPr>
              <a:t>• Hallucinations: </a:t>
            </a:r>
            <a:r>
              <a:rPr sz="1200">
                <a:solidFill>
                  <a:srgbClr val="374151"/>
                </a:solidFill>
              </a:rPr>
              <a:t>Invents APIs, libraries, methods</a:t>
            </a:r>
          </a:p>
          <a:p>
            <a:pPr>
              <a:spcAft>
                <a:spcPts val="600"/>
              </a:spcAft>
            </a:pPr>
            <a:r>
              <a:rPr sz="1200" b="1">
                <a:solidFill>
                  <a:srgbClr val="374151"/>
                </a:solidFill>
              </a:rPr>
              <a:t>• Security: </a:t>
            </a:r>
            <a:r>
              <a:rPr sz="1200">
                <a:solidFill>
                  <a:srgbClr val="374151"/>
                </a:solidFill>
              </a:rPr>
              <a:t>SQL injection, weak auth, hardcoded secrets</a:t>
            </a:r>
          </a:p>
          <a:p>
            <a:pPr>
              <a:spcAft>
                <a:spcPts val="600"/>
              </a:spcAft>
            </a:pPr>
            <a:r>
              <a:rPr sz="1200" b="1">
                <a:solidFill>
                  <a:srgbClr val="374151"/>
                </a:solidFill>
              </a:rPr>
              <a:t>• Privacy: </a:t>
            </a:r>
            <a:r>
              <a:rPr sz="1200">
                <a:solidFill>
                  <a:srgbClr val="374151"/>
                </a:solidFill>
              </a:rPr>
              <a:t>Never paste customer PII or proprietary code</a:t>
            </a:r>
          </a:p>
          <a:p>
            <a:pPr>
              <a:spcAft>
                <a:spcPts val="600"/>
              </a:spcAft>
            </a:pPr>
            <a:r>
              <a:rPr sz="1200" b="1">
                <a:solidFill>
                  <a:srgbClr val="374151"/>
                </a:solidFill>
              </a:rPr>
              <a:t>• Quality: </a:t>
            </a:r>
            <a:r>
              <a:rPr sz="1200">
                <a:solidFill>
                  <a:srgbClr val="374151"/>
                </a:solidFill>
              </a:rPr>
              <a:t>Overengineering, outdated info, hidden bugs</a:t>
            </a:r>
          </a:p>
        </p:txBody>
      </p:sp>
      <p:sp>
        <p:nvSpPr>
          <p:cNvPr id="8" name="Rounded Rectangle 7"/>
          <p:cNvSpPr/>
          <p:nvPr/>
        </p:nvSpPr>
        <p:spPr>
          <a:xfrm>
            <a:off x="6217920" y="3017520"/>
            <a:ext cx="5212080" cy="32918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1E40AF"/>
                </a:solidFill>
              </a:defRPr>
            </a:pPr>
            <a:r>
              <a:t>Developer Must Verify</a:t>
            </a:r>
          </a:p>
          <a:p>
            <a:pPr>
              <a:spcAft>
                <a:spcPts val="800"/>
              </a:spcAft>
              <a:defRPr sz="1300">
                <a:solidFill>
                  <a:srgbClr val="374151"/>
                </a:solidFill>
              </a:defRPr>
            </a:pPr>
            <a:r>
              <a:t>• Correctness &amp; business requirements</a:t>
            </a:r>
          </a:p>
          <a:p>
            <a:pPr>
              <a:spcAft>
                <a:spcPts val="800"/>
              </a:spcAft>
              <a:defRPr sz="1300">
                <a:solidFill>
                  <a:srgbClr val="374151"/>
                </a:solidFill>
              </a:defRPr>
            </a:pPr>
            <a:r>
              <a:t>• Security &amp; compliance</a:t>
            </a:r>
          </a:p>
          <a:p>
            <a:pPr>
              <a:spcAft>
                <a:spcPts val="800"/>
              </a:spcAft>
              <a:defRPr sz="1300">
                <a:solidFill>
                  <a:srgbClr val="374151"/>
                </a:solidFill>
              </a:defRPr>
            </a:pPr>
            <a:r>
              <a:t>• Performance &amp; architecture</a:t>
            </a:r>
          </a:p>
          <a:p>
            <a:pPr>
              <a:spcAft>
                <a:spcPts val="800"/>
              </a:spcAft>
              <a:defRPr sz="1300">
                <a:solidFill>
                  <a:srgbClr val="374151"/>
                </a:solidFill>
              </a:defRPr>
            </a:pPr>
            <a:r>
              <a:t>• Maintainability &amp; test coverage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12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4 — PROMPT ENGINEERING</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What Is a Prompt?</a:t>
            </a:r>
          </a:p>
        </p:txBody>
      </p:sp>
      <p:sp>
        <p:nvSpPr>
          <p:cNvPr id="6" name="Rounded Rectangle 5"/>
          <p:cNvSpPr/>
          <p:nvPr/>
        </p:nvSpPr>
        <p:spPr>
          <a:xfrm>
            <a:off x="731520" y="1645920"/>
            <a:ext cx="10698480" cy="1005840"/>
          </a:xfrm>
          <a:prstGeom prst="roundRect">
            <a:avLst/>
          </a:prstGeom>
          <a:solidFill>
            <a:srgbClr val="FEF8E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spcAft>
                <a:spcPts val="400"/>
              </a:spcAft>
              <a:defRPr sz="1000" b="1">
                <a:solidFill>
                  <a:srgbClr val="F59E0B"/>
                </a:solidFill>
                <a:latin typeface="Consolas"/>
              </a:defRPr>
            </a:pPr>
            <a:r>
              <a:t>DEFINITION</a:t>
            </a:r>
          </a:p>
          <a:p>
            <a:pPr>
              <a:defRPr sz="1300">
                <a:solidFill>
                  <a:srgbClr val="78350F"/>
                </a:solidFill>
                <a:latin typeface="Calibri"/>
              </a:defRPr>
            </a:pPr>
            <a:r>
              <a:t>A prompt is the instruction and context given to an AI model to produce a desired result.</a:t>
            </a:r>
          </a:p>
        </p:txBody>
      </p:sp>
      <p:sp>
        <p:nvSpPr>
          <p:cNvPr id="7" name="TextBox 6"/>
          <p:cNvSpPr txBox="1"/>
          <p:nvPr/>
        </p:nvSpPr>
        <p:spPr>
          <a:xfrm>
            <a:off x="731520" y="2743200"/>
            <a:ext cx="10698480" cy="365760"/>
          </a:xfrm>
          <a:prstGeom prst="rect">
            <a:avLst/>
          </a:prstGeom>
          <a:noFill/>
        </p:spPr>
        <p:txBody>
          <a:bodyPr wrap="none">
            <a:spAutoFit/>
          </a:bodyPr>
          <a:lstStyle/>
          <a:p>
            <a:pPr>
              <a:defRPr sz="1600" b="1">
                <a:solidFill>
                  <a:srgbClr val="374151"/>
                </a:solidFill>
              </a:defRPr>
            </a:pPr>
            <a:r>
              <a:t>Evolution of a Prompt</a:t>
            </a:r>
          </a:p>
        </p:txBody>
      </p:sp>
      <p:sp>
        <p:nvSpPr>
          <p:cNvPr id="8" name="Rounded Rectangle 7"/>
          <p:cNvSpPr/>
          <p:nvPr/>
        </p:nvSpPr>
        <p:spPr>
          <a:xfrm>
            <a:off x="731520" y="3200400"/>
            <a:ext cx="10698480" cy="6400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sz="1200" b="1">
                <a:solidFill>
                  <a:srgbClr val="1E3A8A"/>
                </a:solidFill>
              </a:rPr>
              <a:t>Bad: </a:t>
            </a:r>
            <a:r>
              <a:rPr sz="1200" i="1">
                <a:solidFill>
                  <a:srgbClr val="1E3A8A"/>
                </a:solidFill>
                <a:latin typeface="Calibri"/>
              </a:rPr>
              <a:t>Create a login API.</a:t>
            </a:r>
          </a:p>
        </p:txBody>
      </p:sp>
      <p:sp>
        <p:nvSpPr>
          <p:cNvPr id="9" name="Rounded Rectangle 8"/>
          <p:cNvSpPr/>
          <p:nvPr/>
        </p:nvSpPr>
        <p:spPr>
          <a:xfrm>
            <a:off x="731520" y="3931920"/>
            <a:ext cx="10698480" cy="7315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sz="1200" b="1">
                <a:solidFill>
                  <a:srgbClr val="1E3A8A"/>
                </a:solidFill>
              </a:rPr>
              <a:t>Better: </a:t>
            </a:r>
            <a:r>
              <a:rPr sz="1200" i="1">
                <a:solidFill>
                  <a:srgbClr val="1E3A8A"/>
                </a:solidFill>
                <a:latin typeface="Calibri"/>
              </a:rPr>
              <a:t>Create a Spring Boot REST API for user login using JWT authentication.</a:t>
            </a:r>
          </a:p>
        </p:txBody>
      </p:sp>
      <p:sp>
        <p:nvSpPr>
          <p:cNvPr id="10" name="Rounded Rectangle 9"/>
          <p:cNvSpPr/>
          <p:nvPr/>
        </p:nvSpPr>
        <p:spPr>
          <a:xfrm>
            <a:off x="731520" y="4754880"/>
            <a:ext cx="10698480" cy="10972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sz="1200" b="1">
                <a:solidFill>
                  <a:srgbClr val="1E3A8A"/>
                </a:solidFill>
              </a:rPr>
              <a:t>Professional: </a:t>
            </a:r>
            <a:r>
              <a:rPr sz="1200" i="1">
                <a:solidFill>
                  <a:srgbClr val="1E3A8A"/>
                </a:solidFill>
                <a:latin typeface="Calibri"/>
              </a:rPr>
              <a:t>Create a Spring Boot 3 REST API for user login using JWT authentication. Use Spring Security, BCrypt password hashing, DTOs, validation, and PostgreSQL. Return appropriate HTTP status codes and write unit tests.</a:t>
            </a:r>
          </a:p>
        </p:txBody>
      </p:sp>
      <p:sp>
        <p:nvSpPr>
          <p:cNvPr id="11" name="TextBox 10"/>
          <p:cNvSpPr txBox="1"/>
          <p:nvPr/>
        </p:nvSpPr>
        <p:spPr>
          <a:xfrm>
            <a:off x="731520" y="5943600"/>
            <a:ext cx="10698480" cy="365760"/>
          </a:xfrm>
          <a:prstGeom prst="rect">
            <a:avLst/>
          </a:prstGeom>
          <a:noFill/>
        </p:spPr>
        <p:txBody>
          <a:bodyPr wrap="none">
            <a:spAutoFit/>
          </a:bodyPr>
          <a:lstStyle/>
          <a:p>
            <a:pPr>
              <a:defRPr sz="1300" b="1">
                <a:solidFill>
                  <a:srgbClr val="1E40AF"/>
                </a:solidFill>
              </a:defRPr>
            </a:pPr>
            <a:r>
              <a:t>More relevant context → Better output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13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4 — PROMPT ENGINEERING</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Anatomy of a Professional Prompt</a:t>
            </a:r>
          </a:p>
        </p:txBody>
      </p:sp>
      <p:sp>
        <p:nvSpPr>
          <p:cNvPr id="6" name="Rounded Rectangle 5"/>
          <p:cNvSpPr/>
          <p:nvPr/>
        </p:nvSpPr>
        <p:spPr>
          <a:xfrm>
            <a:off x="731520" y="1645920"/>
            <a:ext cx="10698480" cy="12801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sz="1200" i="1">
                <a:solidFill>
                  <a:srgbClr val="1E3A8A"/>
                </a:solidFill>
                <a:latin typeface="Calibri"/>
              </a:rPr>
              <a:t>Act as a senior Spring Boot developer. I have a Spring Boot 3 REST API using PostgreSQL and Spring Data JPA. Implement a Product search endpoint. Use pagination, DTOs, validation, and the existing Controller → Service → Repository architecture. Return the required Java classes and explain the implementation. Include unit tests for empty results, valid results, and invalid parameters.</a:t>
            </a:r>
          </a:p>
        </p:txBody>
      </p:sp>
      <p:sp>
        <p:nvSpPr>
          <p:cNvPr id="7" name="Rounded Rectangle 6"/>
          <p:cNvSpPr/>
          <p:nvPr/>
        </p:nvSpPr>
        <p:spPr>
          <a:xfrm>
            <a:off x="731520" y="3108960"/>
            <a:ext cx="10698480" cy="457200"/>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r>
              <a:rPr sz="1100" b="1">
                <a:solidFill>
                  <a:srgbClr val="1E40AF"/>
                </a:solidFill>
                <a:latin typeface="Consolas"/>
              </a:rPr>
              <a:t>1. ROLE  —  </a:t>
            </a:r>
            <a:r>
              <a:rPr sz="1200">
                <a:solidFill>
                  <a:srgbClr val="374151"/>
                </a:solidFill>
              </a:rPr>
              <a:t>Senior Spring Boot developer</a:t>
            </a:r>
          </a:p>
        </p:txBody>
      </p:sp>
      <p:sp>
        <p:nvSpPr>
          <p:cNvPr id="8" name="Rounded Rectangle 7"/>
          <p:cNvSpPr/>
          <p:nvPr/>
        </p:nvSpPr>
        <p:spPr>
          <a:xfrm>
            <a:off x="731520" y="3657600"/>
            <a:ext cx="10698480" cy="457200"/>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r>
              <a:rPr sz="1100" b="1">
                <a:solidFill>
                  <a:srgbClr val="1E40AF"/>
                </a:solidFill>
                <a:latin typeface="Consolas"/>
              </a:rPr>
              <a:t>2. CONTEXT  —  </a:t>
            </a:r>
            <a:r>
              <a:rPr sz="1200">
                <a:solidFill>
                  <a:srgbClr val="374151"/>
                </a:solidFill>
              </a:rPr>
              <a:t>Spring Boot 3, PostgreSQL, Spring Data JPA</a:t>
            </a:r>
          </a:p>
        </p:txBody>
      </p:sp>
      <p:sp>
        <p:nvSpPr>
          <p:cNvPr id="9" name="Rounded Rectangle 8"/>
          <p:cNvSpPr/>
          <p:nvPr/>
        </p:nvSpPr>
        <p:spPr>
          <a:xfrm>
            <a:off x="731520" y="4206240"/>
            <a:ext cx="10698480" cy="457200"/>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r>
              <a:rPr sz="1100" b="1">
                <a:solidFill>
                  <a:srgbClr val="1E40AF"/>
                </a:solidFill>
                <a:latin typeface="Consolas"/>
              </a:rPr>
              <a:t>3. TASK  —  </a:t>
            </a:r>
            <a:r>
              <a:rPr sz="1200">
                <a:solidFill>
                  <a:srgbClr val="374151"/>
                </a:solidFill>
              </a:rPr>
              <a:t>Implement Product search endpoint</a:t>
            </a:r>
          </a:p>
        </p:txBody>
      </p:sp>
      <p:sp>
        <p:nvSpPr>
          <p:cNvPr id="10" name="Rounded Rectangle 9"/>
          <p:cNvSpPr/>
          <p:nvPr/>
        </p:nvSpPr>
        <p:spPr>
          <a:xfrm>
            <a:off x="731520" y="4754879"/>
            <a:ext cx="10698480" cy="457200"/>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r>
              <a:rPr sz="1100" b="1">
                <a:solidFill>
                  <a:srgbClr val="1E40AF"/>
                </a:solidFill>
                <a:latin typeface="Consolas"/>
              </a:rPr>
              <a:t>4. CONSTRAINTS  —  </a:t>
            </a:r>
            <a:r>
              <a:rPr sz="1200">
                <a:solidFill>
                  <a:srgbClr val="374151"/>
                </a:solidFill>
              </a:rPr>
              <a:t>Pagination, DTOs, validation, existing architecture</a:t>
            </a:r>
          </a:p>
        </p:txBody>
      </p:sp>
      <p:sp>
        <p:nvSpPr>
          <p:cNvPr id="11" name="Rounded Rectangle 10"/>
          <p:cNvSpPr/>
          <p:nvPr/>
        </p:nvSpPr>
        <p:spPr>
          <a:xfrm>
            <a:off x="731520" y="5303520"/>
            <a:ext cx="10698480" cy="457200"/>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r>
              <a:rPr sz="1100" b="1">
                <a:solidFill>
                  <a:srgbClr val="1E40AF"/>
                </a:solidFill>
                <a:latin typeface="Consolas"/>
              </a:rPr>
              <a:t>5. OUTPUT  —  </a:t>
            </a:r>
            <a:r>
              <a:rPr sz="1200">
                <a:solidFill>
                  <a:srgbClr val="374151"/>
                </a:solidFill>
              </a:rPr>
              <a:t>Java classes + explanation</a:t>
            </a:r>
          </a:p>
        </p:txBody>
      </p:sp>
      <p:sp>
        <p:nvSpPr>
          <p:cNvPr id="12" name="Rounded Rectangle 11"/>
          <p:cNvSpPr/>
          <p:nvPr/>
        </p:nvSpPr>
        <p:spPr>
          <a:xfrm>
            <a:off x="731520" y="5852160"/>
            <a:ext cx="10698480" cy="457200"/>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r>
              <a:rPr sz="1100" b="1">
                <a:solidFill>
                  <a:srgbClr val="1E40AF"/>
                </a:solidFill>
                <a:latin typeface="Consolas"/>
              </a:rPr>
              <a:t>6. VALIDATION  —  </a:t>
            </a:r>
            <a:r>
              <a:rPr sz="1200">
                <a:solidFill>
                  <a:srgbClr val="374151"/>
                </a:solidFill>
              </a:rPr>
              <a:t>Unit tests for specific cases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14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4 — PROMPT ENGINEERING</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Weak Prompt vs Professional Prompt</a:t>
            </a:r>
          </a:p>
        </p:txBody>
      </p:sp>
      <p:sp>
        <p:nvSpPr>
          <p:cNvPr id="6" name="Rounded Rectangle 5"/>
          <p:cNvSpPr/>
          <p:nvPr/>
        </p:nvSpPr>
        <p:spPr>
          <a:xfrm>
            <a:off x="731520" y="1645920"/>
            <a:ext cx="5212080" cy="3474720"/>
          </a:xfrm>
          <a:prstGeom prst="roundRect">
            <a:avLst/>
          </a:prstGeom>
          <a:solidFill>
            <a:srgbClr val="FEF2F2"/>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7F1D1D"/>
                </a:solidFill>
              </a:defRPr>
            </a:pPr>
            <a:r>
              <a:t>❌ Weak</a:t>
            </a:r>
          </a:p>
        </p:txBody>
      </p:sp>
      <p:sp>
        <p:nvSpPr>
          <p:cNvPr id="7" name="Rounded Rectangle 6"/>
          <p:cNvSpPr/>
          <p:nvPr/>
        </p:nvSpPr>
        <p:spPr>
          <a:xfrm>
            <a:off x="914400" y="2286000"/>
            <a:ext cx="4846320" cy="5486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sz="1200" i="1">
                <a:solidFill>
                  <a:srgbClr val="1E3A8A"/>
                </a:solidFill>
                <a:latin typeface="Calibri"/>
              </a:rPr>
              <a:t>Fix this Spring Boot code.</a:t>
            </a:r>
          </a:p>
        </p:txBody>
      </p:sp>
      <p:sp>
        <p:nvSpPr>
          <p:cNvPr id="8" name="TextBox 7"/>
          <p:cNvSpPr txBox="1"/>
          <p:nvPr/>
        </p:nvSpPr>
        <p:spPr>
          <a:xfrm>
            <a:off x="914400" y="2926080"/>
            <a:ext cx="4846320" cy="2011680"/>
          </a:xfrm>
          <a:prstGeom prst="rect">
            <a:avLst/>
          </a:prstGeom>
          <a:noFill/>
        </p:spPr>
        <p:txBody>
          <a:bodyPr wrap="none">
            <a:spAutoFit/>
          </a:bodyPr>
          <a:lstStyle/>
          <a:p>
            <a:pPr>
              <a:defRPr sz="1200" b="1">
                <a:solidFill>
                  <a:srgbClr val="7F1D1D"/>
                </a:solidFill>
              </a:defRPr>
            </a:pPr>
            <a:r>
              <a:t>AI doesn't know:</a:t>
            </a:r>
          </a:p>
          <a:p>
            <a:pPr>
              <a:defRPr sz="1200">
                <a:solidFill>
                  <a:srgbClr val="374151"/>
                </a:solidFill>
              </a:defRPr>
            </a:pPr>
            <a:r>
              <a:t>• What is wrong?</a:t>
            </a:r>
          </a:p>
          <a:p>
            <a:pPr>
              <a:defRPr sz="1200">
                <a:solidFill>
                  <a:srgbClr val="374151"/>
                </a:solidFill>
              </a:defRPr>
            </a:pPr>
            <a:r>
              <a:t>• Expected behavior?</a:t>
            </a:r>
          </a:p>
          <a:p>
            <a:pPr>
              <a:defRPr sz="1200">
                <a:solidFill>
                  <a:srgbClr val="374151"/>
                </a:solidFill>
              </a:defRPr>
            </a:pPr>
            <a:r>
              <a:t>• Framework version?</a:t>
            </a:r>
          </a:p>
          <a:p>
            <a:pPr>
              <a:defRPr sz="1200">
                <a:solidFill>
                  <a:srgbClr val="374151"/>
                </a:solidFill>
              </a:defRPr>
            </a:pPr>
            <a:r>
              <a:t>• What can be changed?</a:t>
            </a:r>
          </a:p>
        </p:txBody>
      </p:sp>
      <p:sp>
        <p:nvSpPr>
          <p:cNvPr id="9" name="Rounded Rectangle 8"/>
          <p:cNvSpPr/>
          <p:nvPr/>
        </p:nvSpPr>
        <p:spPr>
          <a:xfrm>
            <a:off x="6217920" y="1645920"/>
            <a:ext cx="5212080" cy="347472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59669"/>
                </a:solidFill>
              </a:defRPr>
            </a:pPr>
            <a:r>
              <a:t>✅ Professional</a:t>
            </a:r>
          </a:p>
        </p:txBody>
      </p:sp>
      <p:sp>
        <p:nvSpPr>
          <p:cNvPr id="10" name="Rounded Rectangle 9"/>
          <p:cNvSpPr/>
          <p:nvPr/>
        </p:nvSpPr>
        <p:spPr>
          <a:xfrm>
            <a:off x="6400800" y="2286000"/>
            <a:ext cx="4846320" cy="26517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sz="1200" i="1">
                <a:solidFill>
                  <a:srgbClr val="1E3A8A"/>
                </a:solidFill>
                <a:latin typeface="Calibri"/>
              </a:rPr>
              <a:t>I'm using Spring Boot 3 with Java 21. This endpoint returns HTTP 500 when the requested product doesn't exist. Expected behavior is HTTP 404. Analyze the root cause first. Then provide the minimal fix without changing the existing API contract. Explain the cause and add a unit test.</a:t>
            </a:r>
          </a:p>
        </p:txBody>
      </p:sp>
      <p:sp>
        <p:nvSpPr>
          <p:cNvPr id="11" name="Rounded Rectangle 10"/>
          <p:cNvSpPr/>
          <p:nvPr/>
        </p:nvSpPr>
        <p:spPr>
          <a:xfrm>
            <a:off x="731520" y="5303520"/>
            <a:ext cx="10698480" cy="1005840"/>
          </a:xfrm>
          <a:prstGeom prst="roundRect">
            <a:avLst/>
          </a:prstGeom>
          <a:solidFill>
            <a:srgbClr val="FEF8E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spcAft>
                <a:spcPts val="400"/>
              </a:spcAft>
              <a:defRPr sz="1000" b="1">
                <a:solidFill>
                  <a:srgbClr val="F59E0B"/>
                </a:solidFill>
                <a:latin typeface="Consolas"/>
              </a:defRPr>
            </a:pPr>
            <a:r>
              <a:rPr dirty="0"/>
              <a:t>KEY LESSON</a:t>
            </a:r>
          </a:p>
          <a:p>
            <a:pPr>
              <a:defRPr sz="1300">
                <a:solidFill>
                  <a:srgbClr val="78350F"/>
                </a:solidFill>
                <a:latin typeface="Calibri"/>
              </a:defRPr>
            </a:pPr>
            <a:r>
              <a:rPr dirty="0"/>
              <a:t>Weak prompt = vague task. Professional prompt = engineering specification.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15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4 — PROMPT ENGINEERING</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Prompt Strategy: Iteration &amp; Context</a:t>
            </a:r>
          </a:p>
        </p:txBody>
      </p:sp>
      <p:sp>
        <p:nvSpPr>
          <p:cNvPr id="6" name="TextBox 5"/>
          <p:cNvSpPr txBox="1"/>
          <p:nvPr/>
        </p:nvSpPr>
        <p:spPr>
          <a:xfrm>
            <a:off x="731520" y="1645920"/>
            <a:ext cx="5212080" cy="365760"/>
          </a:xfrm>
          <a:prstGeom prst="rect">
            <a:avLst/>
          </a:prstGeom>
          <a:noFill/>
        </p:spPr>
        <p:txBody>
          <a:bodyPr wrap="none">
            <a:spAutoFit/>
          </a:bodyPr>
          <a:lstStyle/>
          <a:p>
            <a:pPr>
              <a:defRPr sz="1600" b="1">
                <a:solidFill>
                  <a:srgbClr val="1E40AF"/>
                </a:solidFill>
              </a:defRPr>
            </a:pPr>
            <a:r>
              <a:t>Don't Ask Everything at Once</a:t>
            </a:r>
          </a:p>
        </p:txBody>
      </p:sp>
      <p:sp>
        <p:nvSpPr>
          <p:cNvPr id="7" name="Rounded Rectangle 6"/>
          <p:cNvSpPr/>
          <p:nvPr/>
        </p:nvSpPr>
        <p:spPr>
          <a:xfrm>
            <a:off x="731520" y="2194560"/>
            <a:ext cx="521208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b="1">
                <a:solidFill>
                  <a:srgbClr val="374151"/>
                </a:solidFill>
              </a:defRPr>
            </a:pPr>
            <a:r>
              <a:t>1. Analyze</a:t>
            </a:r>
          </a:p>
        </p:txBody>
      </p:sp>
      <p:sp>
        <p:nvSpPr>
          <p:cNvPr id="8" name="Rounded Rectangle 7"/>
          <p:cNvSpPr/>
          <p:nvPr/>
        </p:nvSpPr>
        <p:spPr>
          <a:xfrm>
            <a:off x="731520" y="2926080"/>
            <a:ext cx="521208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b="1">
                <a:solidFill>
                  <a:srgbClr val="374151"/>
                </a:solidFill>
              </a:defRPr>
            </a:pPr>
            <a:r>
              <a:t>2. Plan</a:t>
            </a:r>
          </a:p>
        </p:txBody>
      </p:sp>
      <p:sp>
        <p:nvSpPr>
          <p:cNvPr id="9" name="Rounded Rectangle 8"/>
          <p:cNvSpPr/>
          <p:nvPr/>
        </p:nvSpPr>
        <p:spPr>
          <a:xfrm>
            <a:off x="731520" y="3657600"/>
            <a:ext cx="521208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b="1">
                <a:solidFill>
                  <a:srgbClr val="374151"/>
                </a:solidFill>
              </a:defRPr>
            </a:pPr>
            <a:r>
              <a:t>3. Implement</a:t>
            </a:r>
          </a:p>
        </p:txBody>
      </p:sp>
      <p:sp>
        <p:nvSpPr>
          <p:cNvPr id="10" name="Rounded Rectangle 9"/>
          <p:cNvSpPr/>
          <p:nvPr/>
        </p:nvSpPr>
        <p:spPr>
          <a:xfrm>
            <a:off x="731520" y="4389120"/>
            <a:ext cx="521208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b="1">
                <a:solidFill>
                  <a:srgbClr val="374151"/>
                </a:solidFill>
              </a:defRPr>
            </a:pPr>
            <a:r>
              <a:t>4. Test</a:t>
            </a:r>
          </a:p>
        </p:txBody>
      </p:sp>
      <p:sp>
        <p:nvSpPr>
          <p:cNvPr id="11" name="Rounded Rectangle 10"/>
          <p:cNvSpPr/>
          <p:nvPr/>
        </p:nvSpPr>
        <p:spPr>
          <a:xfrm>
            <a:off x="731520" y="5120640"/>
            <a:ext cx="521208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b="1">
                <a:solidFill>
                  <a:srgbClr val="374151"/>
                </a:solidFill>
              </a:defRPr>
            </a:pPr>
            <a:r>
              <a:t>5. Review</a:t>
            </a:r>
          </a:p>
        </p:txBody>
      </p:sp>
      <p:sp>
        <p:nvSpPr>
          <p:cNvPr id="12" name="TextBox 11"/>
          <p:cNvSpPr txBox="1"/>
          <p:nvPr/>
        </p:nvSpPr>
        <p:spPr>
          <a:xfrm>
            <a:off x="6217920" y="1645920"/>
            <a:ext cx="5212080" cy="365760"/>
          </a:xfrm>
          <a:prstGeom prst="rect">
            <a:avLst/>
          </a:prstGeom>
          <a:noFill/>
        </p:spPr>
        <p:txBody>
          <a:bodyPr wrap="none">
            <a:spAutoFit/>
          </a:bodyPr>
          <a:lstStyle/>
          <a:p>
            <a:pPr>
              <a:defRPr sz="1600" b="1">
                <a:solidFill>
                  <a:srgbClr val="1E40AF"/>
                </a:solidFill>
              </a:defRPr>
            </a:pPr>
            <a:r>
              <a:t>Context Engineering</a:t>
            </a:r>
          </a:p>
        </p:txBody>
      </p:sp>
      <p:sp>
        <p:nvSpPr>
          <p:cNvPr id="13" name="Rounded Rectangle 12"/>
          <p:cNvSpPr/>
          <p:nvPr/>
        </p:nvSpPr>
        <p:spPr>
          <a:xfrm>
            <a:off x="6217920" y="2103120"/>
            <a:ext cx="5212080" cy="1188720"/>
          </a:xfrm>
          <a:prstGeom prst="roundRect">
            <a:avLst/>
          </a:prstGeom>
          <a:solidFill>
            <a:srgbClr val="FEF8E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spcAft>
                <a:spcPts val="400"/>
              </a:spcAft>
              <a:defRPr sz="1000" b="1">
                <a:solidFill>
                  <a:srgbClr val="F59E0B"/>
                </a:solidFill>
                <a:latin typeface="Consolas"/>
              </a:defRPr>
            </a:pPr>
            <a:r>
              <a:t>DEFINITION</a:t>
            </a:r>
          </a:p>
          <a:p>
            <a:pPr>
              <a:defRPr sz="1300">
                <a:solidFill>
                  <a:srgbClr val="78350F"/>
                </a:solidFill>
                <a:latin typeface="Calibri"/>
              </a:defRPr>
            </a:pPr>
            <a:r>
              <a:t>Prompting isn't just words — give AI the right engineering context: files, schemas, errors, dependencies.</a:t>
            </a:r>
          </a:p>
        </p:txBody>
      </p:sp>
      <p:sp>
        <p:nvSpPr>
          <p:cNvPr id="14" name="Rounded Rectangle 13"/>
          <p:cNvSpPr/>
          <p:nvPr/>
        </p:nvSpPr>
        <p:spPr>
          <a:xfrm>
            <a:off x="6217920" y="3474720"/>
            <a:ext cx="5212080" cy="6400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sz="1200" b="1">
                <a:solidFill>
                  <a:srgbClr val="1E3A8A"/>
                </a:solidFill>
              </a:rPr>
              <a:t>Bad: </a:t>
            </a:r>
            <a:r>
              <a:rPr sz="1200" i="1">
                <a:solidFill>
                  <a:srgbClr val="1E3A8A"/>
                </a:solidFill>
                <a:latin typeface="Calibri"/>
              </a:rPr>
              <a:t>"Why is my API slow?"</a:t>
            </a:r>
          </a:p>
        </p:txBody>
      </p:sp>
      <p:sp>
        <p:nvSpPr>
          <p:cNvPr id="15" name="Rounded Rectangle 14"/>
          <p:cNvSpPr/>
          <p:nvPr/>
        </p:nvSpPr>
        <p:spPr>
          <a:xfrm>
            <a:off x="6217920" y="4206240"/>
            <a:ext cx="5212080" cy="10058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sz="1200" b="1" dirty="0">
                <a:solidFill>
                  <a:srgbClr val="1E3A8A"/>
                </a:solidFill>
              </a:rPr>
              <a:t>Better: </a:t>
            </a:r>
            <a:r>
              <a:rPr sz="1200" i="1" dirty="0">
                <a:solidFill>
                  <a:srgbClr val="1E3A8A"/>
                </a:solidFill>
                <a:latin typeface="Calibri"/>
              </a:rPr>
              <a:t>"This is my endpoint, query, schema, execution time, and SQL. Analyze why this takes 3 seconds."</a:t>
            </a:r>
          </a:p>
        </p:txBody>
      </p:sp>
      <p:sp>
        <p:nvSpPr>
          <p:cNvPr id="16" name="TextBox 15"/>
          <p:cNvSpPr txBox="1"/>
          <p:nvPr/>
        </p:nvSpPr>
        <p:spPr>
          <a:xfrm>
            <a:off x="6217920" y="5394960"/>
            <a:ext cx="5212080" cy="731520"/>
          </a:xfrm>
          <a:prstGeom prst="rect">
            <a:avLst/>
          </a:prstGeom>
          <a:noFill/>
        </p:spPr>
        <p:txBody>
          <a:bodyPr wrap="square">
            <a:spAutoFit/>
          </a:bodyPr>
          <a:lstStyle/>
          <a:p>
            <a:r>
              <a:rPr sz="1200" b="1">
                <a:solidFill>
                  <a:srgbClr val="1E40AF"/>
                </a:solidFill>
              </a:rPr>
              <a:t>Prompt Chaining: </a:t>
            </a:r>
            <a:r>
              <a:rPr sz="1200">
                <a:solidFill>
                  <a:srgbClr val="374151"/>
                </a:solidFill>
              </a:rPr>
              <a:t>Divide complex problems into smaller sequential prompts.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16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5 — PRACTICAL EXAMPLES</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Ex 1 &amp; 2: Spring Boot</a:t>
            </a:r>
          </a:p>
        </p:txBody>
      </p:sp>
      <p:sp>
        <p:nvSpPr>
          <p:cNvPr id="6" name="Rounded Rectangle 5"/>
          <p:cNvSpPr/>
          <p:nvPr/>
        </p:nvSpPr>
        <p:spPr>
          <a:xfrm>
            <a:off x="731520" y="1645920"/>
            <a:ext cx="5212080" cy="32918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E40AF"/>
                </a:solidFill>
              </a:defRPr>
            </a:pPr>
            <a:r>
              <a:t>Ex 1: CRUD API</a:t>
            </a:r>
          </a:p>
        </p:txBody>
      </p:sp>
      <p:sp>
        <p:nvSpPr>
          <p:cNvPr id="7" name="Rounded Rectangle 6"/>
          <p:cNvSpPr/>
          <p:nvPr/>
        </p:nvSpPr>
        <p:spPr>
          <a:xfrm>
            <a:off x="914400" y="2286000"/>
            <a:ext cx="4846320" cy="24688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sz="1400" i="1">
                <a:solidFill>
                  <a:srgbClr val="1E3A8A"/>
                </a:solidFill>
                <a:latin typeface="Calibri"/>
              </a:rPr>
              <a:t>Act as a senior Spring Boot dev. Create a Product CRUD REST API using Spring Boot 3, Java 21, PostgreSQL. Use DTOs, Bean Validation, Controller→Service→Repository. Provide classes and JUnit 5 tests.</a:t>
            </a:r>
          </a:p>
        </p:txBody>
      </p:sp>
      <p:sp>
        <p:nvSpPr>
          <p:cNvPr id="8" name="Rounded Rectangle 7"/>
          <p:cNvSpPr/>
          <p:nvPr/>
        </p:nvSpPr>
        <p:spPr>
          <a:xfrm>
            <a:off x="6217920" y="1645920"/>
            <a:ext cx="5212080" cy="32918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E40AF"/>
                </a:solidFill>
              </a:defRPr>
            </a:pPr>
            <a:r>
              <a:t>Ex 2: Debugging</a:t>
            </a:r>
          </a:p>
        </p:txBody>
      </p:sp>
      <p:sp>
        <p:nvSpPr>
          <p:cNvPr id="9" name="Rounded Rectangle 8"/>
          <p:cNvSpPr/>
          <p:nvPr/>
        </p:nvSpPr>
        <p:spPr>
          <a:xfrm>
            <a:off x="6400800" y="2286000"/>
            <a:ext cx="4846320" cy="24688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sz="1400" i="1">
                <a:solidFill>
                  <a:srgbClr val="1E3A8A"/>
                </a:solidFill>
                <a:latin typeface="Calibri"/>
              </a:rPr>
              <a:t>API returns 500, expected 404. Analyze Controller, Service, and stack trace. Identify root cause first (don't modify yet). Then provide minimal fix, explain why, and provide a unit test for missing-product.</a:t>
            </a:r>
          </a:p>
        </p:txBody>
      </p:sp>
      <p:sp>
        <p:nvSpPr>
          <p:cNvPr id="10" name="Rounded Rectangle 9"/>
          <p:cNvSpPr/>
          <p:nvPr/>
        </p:nvSpPr>
        <p:spPr>
          <a:xfrm>
            <a:off x="731520" y="5120640"/>
            <a:ext cx="10698480" cy="1097280"/>
          </a:xfrm>
          <a:prstGeom prst="roundRect">
            <a:avLst/>
          </a:prstGeom>
          <a:solidFill>
            <a:srgbClr val="FEF8E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spcAft>
                <a:spcPts val="400"/>
              </a:spcAft>
              <a:defRPr sz="1000" b="1">
                <a:solidFill>
                  <a:srgbClr val="F59E0B"/>
                </a:solidFill>
                <a:latin typeface="Consolas"/>
              </a:defRPr>
            </a:pPr>
            <a:r>
              <a:t>TECHNIQUE</a:t>
            </a:r>
          </a:p>
          <a:p>
            <a:pPr>
              <a:defRPr sz="1300">
                <a:solidFill>
                  <a:srgbClr val="78350F"/>
                </a:solidFill>
                <a:latin typeface="Calibri"/>
              </a:defRPr>
            </a:pPr>
            <a:r>
              <a:t>Diagnose → Explain → Fix → Test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17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5 — PRACTICAL EXAMPLES</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Ex 3 &amp; 4: Spring Boot</a:t>
            </a:r>
          </a:p>
        </p:txBody>
      </p:sp>
      <p:sp>
        <p:nvSpPr>
          <p:cNvPr id="6" name="Rounded Rectangle 5"/>
          <p:cNvSpPr/>
          <p:nvPr/>
        </p:nvSpPr>
        <p:spPr>
          <a:xfrm>
            <a:off x="731520" y="1645920"/>
            <a:ext cx="5212080" cy="32918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E40AF"/>
                </a:solidFill>
              </a:defRPr>
            </a:pPr>
            <a:r>
              <a:t>Ex 3: Refactoring</a:t>
            </a:r>
          </a:p>
        </p:txBody>
      </p:sp>
      <p:sp>
        <p:nvSpPr>
          <p:cNvPr id="7" name="Rounded Rectangle 6"/>
          <p:cNvSpPr/>
          <p:nvPr/>
        </p:nvSpPr>
        <p:spPr>
          <a:xfrm>
            <a:off x="914400" y="2286000"/>
            <a:ext cx="4846320" cy="24688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sz="1400" i="1">
                <a:solidFill>
                  <a:srgbClr val="1E3A8A"/>
                </a:solidFill>
                <a:latin typeface="Calibri"/>
              </a:rPr>
              <a:t>Analyze this service method for SOLID violations, high complexity, duplicated logic, and unnecessary DB calls. Don't change public API. Explain problems first, then refactor simply. Avoid unnecessary design patterns.</a:t>
            </a:r>
          </a:p>
        </p:txBody>
      </p:sp>
      <p:sp>
        <p:nvSpPr>
          <p:cNvPr id="8" name="Rounded Rectangle 7"/>
          <p:cNvSpPr/>
          <p:nvPr/>
        </p:nvSpPr>
        <p:spPr>
          <a:xfrm>
            <a:off x="6217920" y="1645920"/>
            <a:ext cx="5212080" cy="32918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E40AF"/>
                </a:solidFill>
              </a:defRPr>
            </a:pPr>
            <a:r>
              <a:t>Ex 4: Unit Tests</a:t>
            </a:r>
          </a:p>
        </p:txBody>
      </p:sp>
      <p:sp>
        <p:nvSpPr>
          <p:cNvPr id="9" name="Rounded Rectangle 8"/>
          <p:cNvSpPr/>
          <p:nvPr/>
        </p:nvSpPr>
        <p:spPr>
          <a:xfrm>
            <a:off x="6400800" y="2286000"/>
            <a:ext cx="4846320" cy="24688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sz="1400" i="1">
                <a:solidFill>
                  <a:srgbClr val="1E3A8A"/>
                </a:solidFill>
                <a:latin typeface="Calibri"/>
              </a:rPr>
              <a:t>Generate JUnit 5 and Mockito tests for OrderService. Cover: successful creation, product not found, insufficient stock, invalid quantity. Follow Arrange→Act→Assert. Explain business rules verified.</a:t>
            </a:r>
          </a:p>
        </p:txBody>
      </p:sp>
      <p:sp>
        <p:nvSpPr>
          <p:cNvPr id="10" name="Rounded Rectangle 9"/>
          <p:cNvSpPr/>
          <p:nvPr/>
        </p:nvSpPr>
        <p:spPr>
          <a:xfrm>
            <a:off x="731520" y="5120640"/>
            <a:ext cx="10698480" cy="1097280"/>
          </a:xfrm>
          <a:prstGeom prst="roundRect">
            <a:avLst/>
          </a:prstGeom>
          <a:solidFill>
            <a:srgbClr val="FEF8E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spcAft>
                <a:spcPts val="400"/>
              </a:spcAft>
              <a:defRPr sz="1000" b="1">
                <a:solidFill>
                  <a:srgbClr val="F59E0B"/>
                </a:solidFill>
                <a:latin typeface="Consolas"/>
              </a:defRPr>
            </a:pPr>
            <a:r>
              <a:rPr sz="1100" dirty="0"/>
              <a:t>KEY LESSON</a:t>
            </a:r>
          </a:p>
          <a:p>
            <a:pPr>
              <a:defRPr sz="1300">
                <a:solidFill>
                  <a:srgbClr val="78350F"/>
                </a:solidFill>
                <a:latin typeface="Calibri"/>
              </a:defRPr>
            </a:pPr>
            <a:r>
              <a:rPr sz="1100" dirty="0"/>
              <a:t>Don't say 'make it better.' Tell the AI exactly what dimensions to evaluate.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18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5 — PRACTICAL EXAMPLES</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Ex 5 &amp; 6: Python</a:t>
            </a:r>
          </a:p>
        </p:txBody>
      </p:sp>
      <p:sp>
        <p:nvSpPr>
          <p:cNvPr id="6" name="Rounded Rectangle 5"/>
          <p:cNvSpPr/>
          <p:nvPr/>
        </p:nvSpPr>
        <p:spPr>
          <a:xfrm>
            <a:off x="731520" y="1645920"/>
            <a:ext cx="5212080" cy="32918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E40AF"/>
                </a:solidFill>
              </a:defRPr>
            </a:pPr>
            <a:r>
              <a:t>Ex 5: FastAPI Endpoint</a:t>
            </a:r>
          </a:p>
        </p:txBody>
      </p:sp>
      <p:sp>
        <p:nvSpPr>
          <p:cNvPr id="7" name="Rounded Rectangle 6"/>
          <p:cNvSpPr/>
          <p:nvPr/>
        </p:nvSpPr>
        <p:spPr>
          <a:xfrm>
            <a:off x="914400" y="2286000"/>
            <a:ext cx="4846320" cy="24688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sz="1400" i="1">
                <a:solidFill>
                  <a:srgbClr val="1E3A8A"/>
                </a:solidFill>
                <a:latin typeface="Calibri"/>
              </a:rPr>
              <a:t>Act as a senior Python dev. Build a FastAPI POST /users endpoint (Python 3.12, PostgreSQL). Requirements: Pydantic validation, password hashing, email validation, duplicate detection. Return implementation, explain flow, include pytest tests.</a:t>
            </a:r>
          </a:p>
        </p:txBody>
      </p:sp>
      <p:sp>
        <p:nvSpPr>
          <p:cNvPr id="8" name="Rounded Rectangle 7"/>
          <p:cNvSpPr/>
          <p:nvPr/>
        </p:nvSpPr>
        <p:spPr>
          <a:xfrm>
            <a:off x="6217920" y="1645920"/>
            <a:ext cx="5212080" cy="32918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E40AF"/>
                </a:solidFill>
              </a:defRPr>
            </a:pPr>
            <a:r>
              <a:t>Ex 6: Python Debugging</a:t>
            </a:r>
          </a:p>
        </p:txBody>
      </p:sp>
      <p:sp>
        <p:nvSpPr>
          <p:cNvPr id="9" name="Rounded Rectangle 8"/>
          <p:cNvSpPr/>
          <p:nvPr/>
        </p:nvSpPr>
        <p:spPr>
          <a:xfrm>
            <a:off x="6400800" y="2286000"/>
            <a:ext cx="4846320" cy="24688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sz="1400" i="1">
                <a:solidFill>
                  <a:srgbClr val="1E3A8A"/>
                </a:solidFill>
                <a:latin typeface="Calibri"/>
              </a:rPr>
              <a:t>Function calculates discount incorrectly. Expected: price=100, discount=20%, result=80. Explain the bug, provide minimal correction, and create pytest tests for 20%, 0%, 100%, and invalid negative discounts.</a:t>
            </a:r>
          </a:p>
        </p:txBody>
      </p:sp>
      <p:sp>
        <p:nvSpPr>
          <p:cNvPr id="10" name="Rounded Rectangle 9"/>
          <p:cNvSpPr/>
          <p:nvPr/>
        </p:nvSpPr>
        <p:spPr>
          <a:xfrm>
            <a:off x="746760" y="5120640"/>
            <a:ext cx="10698480" cy="1097280"/>
          </a:xfrm>
          <a:prstGeom prst="roundRect">
            <a:avLst/>
          </a:prstGeom>
          <a:solidFill>
            <a:srgbClr val="FEF8E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spcAft>
                <a:spcPts val="400"/>
              </a:spcAft>
              <a:defRPr sz="1000" b="1">
                <a:solidFill>
                  <a:srgbClr val="F59E0B"/>
                </a:solidFill>
                <a:latin typeface="Consolas"/>
              </a:defRPr>
            </a:pPr>
            <a:r>
              <a:rPr sz="1050"/>
              <a:t>TECHNIQUE</a:t>
            </a:r>
          </a:p>
          <a:p>
            <a:pPr>
              <a:defRPr sz="1300">
                <a:solidFill>
                  <a:srgbClr val="78350F"/>
                </a:solidFill>
                <a:latin typeface="Calibri"/>
              </a:defRPr>
            </a:pPr>
            <a:r>
              <a:rPr sz="1400"/>
              <a:t>Give AI expected behavior, not just the broken code.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19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5 — PRACTICAL EXAMPLES</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Ex 7–9: SQL, Onboarding &amp; Agents</a:t>
            </a:r>
          </a:p>
        </p:txBody>
      </p:sp>
      <p:sp>
        <p:nvSpPr>
          <p:cNvPr id="6" name="Oval 5"/>
          <p:cNvSpPr/>
          <p:nvPr/>
        </p:nvSpPr>
        <p:spPr>
          <a:xfrm>
            <a:off x="731520" y="1645920"/>
            <a:ext cx="411480" cy="41148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7</a:t>
            </a:r>
          </a:p>
        </p:txBody>
      </p:sp>
      <p:sp>
        <p:nvSpPr>
          <p:cNvPr id="7" name="Rounded Rectangle 6"/>
          <p:cNvSpPr/>
          <p:nvPr/>
        </p:nvSpPr>
        <p:spPr>
          <a:xfrm>
            <a:off x="1325880" y="1645920"/>
            <a:ext cx="10104120" cy="91440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defRPr sz="1300" b="1">
                <a:solidFill>
                  <a:srgbClr val="1E40AF"/>
                </a:solidFill>
              </a:defRPr>
            </a:pPr>
            <a:r>
              <a:rPr sz="1400"/>
              <a:t>SQL Optimization</a:t>
            </a:r>
          </a:p>
          <a:p>
            <a:pPr>
              <a:defRPr sz="1100">
                <a:solidFill>
                  <a:srgbClr val="374151"/>
                </a:solidFill>
              </a:defRPr>
            </a:pPr>
            <a:r>
              <a:rPr sz="1200"/>
              <a:t>Analyze Entity, query, SQL, and indexes. Identify N+1 queries, missing indexes. First identify bottleneck, then recommend smallest effective optimization. (Principle: Measure → Analyze → Optimize)</a:t>
            </a:r>
          </a:p>
        </p:txBody>
      </p:sp>
      <p:sp>
        <p:nvSpPr>
          <p:cNvPr id="8" name="Oval 7"/>
          <p:cNvSpPr/>
          <p:nvPr/>
        </p:nvSpPr>
        <p:spPr>
          <a:xfrm>
            <a:off x="731520" y="2743200"/>
            <a:ext cx="411480" cy="41148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8</a:t>
            </a:r>
          </a:p>
        </p:txBody>
      </p:sp>
      <p:sp>
        <p:nvSpPr>
          <p:cNvPr id="9" name="Rounded Rectangle 8"/>
          <p:cNvSpPr/>
          <p:nvPr/>
        </p:nvSpPr>
        <p:spPr>
          <a:xfrm>
            <a:off x="1325880" y="2743200"/>
            <a:ext cx="10104120" cy="91440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defRPr sz="1300" b="1">
                <a:solidFill>
                  <a:srgbClr val="1E40AF"/>
                </a:solidFill>
              </a:defRPr>
            </a:pPr>
            <a:r>
              <a:rPr sz="1400"/>
              <a:t>Codebase Onboarding</a:t>
            </a:r>
          </a:p>
          <a:p>
            <a:pPr>
              <a:defRPr sz="1100">
                <a:solidFill>
                  <a:srgbClr val="374151"/>
                </a:solidFill>
              </a:defRPr>
            </a:pPr>
            <a:r>
              <a:rPr sz="1200"/>
              <a:t>Analyze repo without modifying. Identify architecture, modules, DB access, auth flow. Explain request flow. List top 5 files a new developer should read first.</a:t>
            </a:r>
          </a:p>
        </p:txBody>
      </p:sp>
      <p:sp>
        <p:nvSpPr>
          <p:cNvPr id="10" name="Oval 9"/>
          <p:cNvSpPr/>
          <p:nvPr/>
        </p:nvSpPr>
        <p:spPr>
          <a:xfrm>
            <a:off x="731520" y="3840480"/>
            <a:ext cx="411480" cy="41148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a:solidFill>
                  <a:srgbClr val="FFFFFF"/>
                </a:solidFill>
              </a:defRPr>
            </a:pPr>
            <a:r>
              <a:t>9</a:t>
            </a:r>
          </a:p>
        </p:txBody>
      </p:sp>
      <p:sp>
        <p:nvSpPr>
          <p:cNvPr id="11" name="Rounded Rectangle 10"/>
          <p:cNvSpPr/>
          <p:nvPr/>
        </p:nvSpPr>
        <p:spPr>
          <a:xfrm>
            <a:off x="1325880" y="3840480"/>
            <a:ext cx="10104120" cy="91440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defRPr sz="1300" b="1">
                <a:solidFill>
                  <a:srgbClr val="1E40AF"/>
                </a:solidFill>
              </a:defRPr>
            </a:pPr>
            <a:r>
              <a:rPr sz="1400"/>
              <a:t>Agent Feature Implementation</a:t>
            </a:r>
          </a:p>
          <a:p>
            <a:pPr>
              <a:defRPr sz="1100">
                <a:solidFill>
                  <a:srgbClr val="374151"/>
                </a:solidFill>
              </a:defRPr>
            </a:pPr>
            <a:r>
              <a:rPr sz="1200"/>
              <a:t>Add Inventory Management to existing project. Agent must first analyze architecture, identify where feature fits. Follow conventions, generate tests, report issues.</a:t>
            </a:r>
          </a:p>
        </p:txBody>
      </p:sp>
      <p:sp>
        <p:nvSpPr>
          <p:cNvPr id="12" name="Rounded Rectangle 11"/>
          <p:cNvSpPr/>
          <p:nvPr/>
        </p:nvSpPr>
        <p:spPr>
          <a:xfrm>
            <a:off x="731520" y="5303520"/>
            <a:ext cx="10698480" cy="1005840"/>
          </a:xfrm>
          <a:prstGeom prst="roundRect">
            <a:avLst/>
          </a:prstGeom>
          <a:solidFill>
            <a:srgbClr val="FEF8E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spcAft>
                <a:spcPts val="400"/>
              </a:spcAft>
              <a:defRPr sz="1000" b="1">
                <a:solidFill>
                  <a:srgbClr val="F59E0B"/>
                </a:solidFill>
                <a:latin typeface="Consolas"/>
              </a:defRPr>
            </a:pPr>
            <a:r>
              <a:rPr sz="1050"/>
              <a:t>CONCEPT</a:t>
            </a:r>
          </a:p>
          <a:p>
            <a:pPr>
              <a:defRPr sz="1300">
                <a:solidFill>
                  <a:srgbClr val="78350F"/>
                </a:solidFill>
                <a:latin typeface="Calibri"/>
              </a:defRPr>
            </a:pPr>
            <a:r>
              <a:rPr sz="1400"/>
              <a:t>AI Agent ≠ Chatbot. Agents explore, plan, and execute multi-file workflows.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20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PART 5 — PRACTICAL EXAMPLES</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Ex 10: Professional Code Review</a:t>
            </a:r>
          </a:p>
        </p:txBody>
      </p:sp>
      <p:sp>
        <p:nvSpPr>
          <p:cNvPr id="6" name="Rounded Rectangle 5"/>
          <p:cNvSpPr/>
          <p:nvPr/>
        </p:nvSpPr>
        <p:spPr>
          <a:xfrm>
            <a:off x="731520" y="1645920"/>
            <a:ext cx="10698480" cy="29260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sz="1400" i="1">
                <a:solidFill>
                  <a:srgbClr val="1E3A8A"/>
                </a:solidFill>
                <a:latin typeface="Calibri"/>
              </a:rPr>
              <a:t>Act as a senior software engineer performing a production code review. Review this Spring Boot implementation for: Correctness, Security, Performance, Maintainability, SOLID principles, Error handling, DB efficiency, Test coverage.
Categorize findings as Critical / High / Medium / Low. For each issue: explain problem, impact, recommended fix, and example. Do not rewrite everything. Provide prioritized top 5 changes before production.</a:t>
            </a:r>
          </a:p>
        </p:txBody>
      </p:sp>
      <p:sp>
        <p:nvSpPr>
          <p:cNvPr id="7" name="Rounded Rectangle 6"/>
          <p:cNvSpPr/>
          <p:nvPr/>
        </p:nvSpPr>
        <p:spPr>
          <a:xfrm>
            <a:off x="731520" y="4754880"/>
            <a:ext cx="10698480" cy="1371600"/>
          </a:xfrm>
          <a:prstGeom prst="roundRect">
            <a:avLst/>
          </a:prstGeom>
          <a:solidFill>
            <a:srgbClr val="FEF8E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spcAft>
                <a:spcPts val="400"/>
              </a:spcAft>
              <a:defRPr sz="1000" b="1">
                <a:solidFill>
                  <a:srgbClr val="F59E0B"/>
                </a:solidFill>
                <a:latin typeface="Consolas"/>
              </a:defRPr>
            </a:pPr>
            <a:r>
              <a:rPr sz="1050" dirty="0"/>
              <a:t>WHY THIS MATTERS</a:t>
            </a:r>
          </a:p>
          <a:p>
            <a:pPr>
              <a:defRPr sz="1300">
                <a:solidFill>
                  <a:srgbClr val="78350F"/>
                </a:solidFill>
                <a:latin typeface="Calibri"/>
              </a:defRPr>
            </a:pPr>
            <a:r>
              <a:rPr sz="1400" dirty="0"/>
              <a:t>This is where AI augments senior judgment rather than replacing junior work. AI becomes a review partner, not just a code generator.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6B7280"/>
                </a:solidFill>
                <a:latin typeface="Consolas"/>
              </a:defRPr>
            </a:pPr>
            <a:r>
              <a:t>21 / 22</a:t>
            </a:r>
          </a:p>
        </p:txBody>
      </p:sp>
      <p:sp>
        <p:nvSpPr>
          <p:cNvPr id="4" name="Rounded Rectangle 3"/>
          <p:cNvSpPr/>
          <p:nvPr/>
        </p:nvSpPr>
        <p:spPr>
          <a:xfrm>
            <a:off x="731520" y="365760"/>
            <a:ext cx="4114800" cy="32004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40AF"/>
                </a:solidFill>
                <a:latin typeface="Consolas"/>
              </a:defRPr>
            </a:pPr>
            <a:r>
              <a:t>WRAP-UP</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1E40AF"/>
                </a:solidFill>
                <a:latin typeface="Georgia"/>
              </a:defRPr>
            </a:pPr>
            <a:r>
              <a:t>The Professional Formula</a:t>
            </a:r>
          </a:p>
        </p:txBody>
      </p:sp>
      <p:sp>
        <p:nvSpPr>
          <p:cNvPr id="6" name="TextBox 5"/>
          <p:cNvSpPr txBox="1"/>
          <p:nvPr/>
        </p:nvSpPr>
        <p:spPr>
          <a:xfrm>
            <a:off x="731520" y="1463040"/>
            <a:ext cx="10698480" cy="365760"/>
          </a:xfrm>
          <a:prstGeom prst="rect">
            <a:avLst/>
          </a:prstGeom>
          <a:noFill/>
        </p:spPr>
        <p:txBody>
          <a:bodyPr wrap="none">
            <a:spAutoFit/>
          </a:bodyPr>
          <a:lstStyle/>
          <a:p>
            <a:pPr>
              <a:defRPr sz="1500">
                <a:solidFill>
                  <a:srgbClr val="6B7280"/>
                </a:solidFill>
              </a:defRPr>
            </a:pPr>
            <a:r>
              <a:t>Don't prompt AI like a search engine. Think like an engineer:</a:t>
            </a:r>
          </a:p>
        </p:txBody>
      </p:sp>
      <p:sp>
        <p:nvSpPr>
          <p:cNvPr id="7" name="Oval 6"/>
          <p:cNvSpPr/>
          <p:nvPr/>
        </p:nvSpPr>
        <p:spPr>
          <a:xfrm>
            <a:off x="731520" y="201168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8" name="Rounded Rectangle 7"/>
          <p:cNvSpPr/>
          <p:nvPr/>
        </p:nvSpPr>
        <p:spPr>
          <a:xfrm>
            <a:off x="1234440" y="2011680"/>
            <a:ext cx="1019556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Role — </a:t>
            </a:r>
            <a:r>
              <a:rPr sz="1300">
                <a:solidFill>
                  <a:srgbClr val="374151"/>
                </a:solidFill>
              </a:rPr>
              <a:t>Who should AI act as?</a:t>
            </a:r>
          </a:p>
        </p:txBody>
      </p:sp>
      <p:sp>
        <p:nvSpPr>
          <p:cNvPr id="9" name="Oval 8"/>
          <p:cNvSpPr/>
          <p:nvPr/>
        </p:nvSpPr>
        <p:spPr>
          <a:xfrm>
            <a:off x="731520" y="274320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0" name="Rounded Rectangle 9"/>
          <p:cNvSpPr/>
          <p:nvPr/>
        </p:nvSpPr>
        <p:spPr>
          <a:xfrm>
            <a:off x="1234440" y="2743200"/>
            <a:ext cx="1019556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Context — </a:t>
            </a:r>
            <a:r>
              <a:rPr sz="1300">
                <a:solidFill>
                  <a:srgbClr val="374151"/>
                </a:solidFill>
              </a:rPr>
              <a:t>What does it need to know?</a:t>
            </a:r>
          </a:p>
        </p:txBody>
      </p:sp>
      <p:sp>
        <p:nvSpPr>
          <p:cNvPr id="11" name="Oval 10"/>
          <p:cNvSpPr/>
          <p:nvPr/>
        </p:nvSpPr>
        <p:spPr>
          <a:xfrm>
            <a:off x="731520" y="347472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2" name="Rounded Rectangle 11"/>
          <p:cNvSpPr/>
          <p:nvPr/>
        </p:nvSpPr>
        <p:spPr>
          <a:xfrm>
            <a:off x="1234440" y="3474720"/>
            <a:ext cx="1019556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Task — </a:t>
            </a:r>
            <a:r>
              <a:rPr sz="1300">
                <a:solidFill>
                  <a:srgbClr val="374151"/>
                </a:solidFill>
              </a:rPr>
              <a:t>What exactly should it do?</a:t>
            </a:r>
          </a:p>
        </p:txBody>
      </p:sp>
      <p:sp>
        <p:nvSpPr>
          <p:cNvPr id="13" name="Oval 12"/>
          <p:cNvSpPr/>
          <p:nvPr/>
        </p:nvSpPr>
        <p:spPr>
          <a:xfrm>
            <a:off x="731520" y="420624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4" name="Rounded Rectangle 13"/>
          <p:cNvSpPr/>
          <p:nvPr/>
        </p:nvSpPr>
        <p:spPr>
          <a:xfrm>
            <a:off x="1234440" y="4206240"/>
            <a:ext cx="1019556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Constraints — </a:t>
            </a:r>
            <a:r>
              <a:rPr sz="1300">
                <a:solidFill>
                  <a:srgbClr val="374151"/>
                </a:solidFill>
              </a:rPr>
              <a:t>What rules must it follow?</a:t>
            </a:r>
          </a:p>
        </p:txBody>
      </p:sp>
      <p:sp>
        <p:nvSpPr>
          <p:cNvPr id="15" name="Oval 14"/>
          <p:cNvSpPr/>
          <p:nvPr/>
        </p:nvSpPr>
        <p:spPr>
          <a:xfrm>
            <a:off x="731520" y="493776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16" name="Rounded Rectangle 15"/>
          <p:cNvSpPr/>
          <p:nvPr/>
        </p:nvSpPr>
        <p:spPr>
          <a:xfrm>
            <a:off x="1234440" y="4937760"/>
            <a:ext cx="1019556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Output — </a:t>
            </a:r>
            <a:r>
              <a:rPr sz="1300">
                <a:solidFill>
                  <a:srgbClr val="374151"/>
                </a:solidFill>
              </a:rPr>
              <a:t>What should the output look like?</a:t>
            </a:r>
          </a:p>
        </p:txBody>
      </p:sp>
      <p:sp>
        <p:nvSpPr>
          <p:cNvPr id="17" name="Oval 16"/>
          <p:cNvSpPr/>
          <p:nvPr/>
        </p:nvSpPr>
        <p:spPr>
          <a:xfrm>
            <a:off x="731520" y="566928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6</a:t>
            </a:r>
          </a:p>
        </p:txBody>
      </p:sp>
      <p:sp>
        <p:nvSpPr>
          <p:cNvPr id="18" name="Rounded Rectangle 17"/>
          <p:cNvSpPr/>
          <p:nvPr/>
        </p:nvSpPr>
        <p:spPr>
          <a:xfrm>
            <a:off x="1234440" y="5669280"/>
            <a:ext cx="10195560" cy="54864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r>
              <a:rPr sz="1300" b="1">
                <a:solidFill>
                  <a:srgbClr val="1E40AF"/>
                </a:solidFill>
              </a:rPr>
              <a:t>Validation — </a:t>
            </a:r>
            <a:r>
              <a:rPr sz="1300">
                <a:solidFill>
                  <a:srgbClr val="374151"/>
                </a:solidFill>
              </a:rPr>
              <a:t>How will we verify the result?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058400" y="365760"/>
            <a:ext cx="1645920" cy="365760"/>
          </a:xfrm>
          <a:prstGeom prst="rect">
            <a:avLst/>
          </a:prstGeom>
          <a:noFill/>
        </p:spPr>
        <p:txBody>
          <a:bodyPr wrap="none">
            <a:spAutoFit/>
          </a:bodyPr>
          <a:lstStyle/>
          <a:p>
            <a:pPr algn="r">
              <a:defRPr sz="1200">
                <a:solidFill>
                  <a:srgbClr val="BFDBFE"/>
                </a:solidFill>
                <a:latin typeface="Consolas"/>
              </a:defRPr>
            </a:pPr>
            <a:r>
              <a:t>22 / 22</a:t>
            </a:r>
          </a:p>
        </p:txBody>
      </p:sp>
      <p:sp>
        <p:nvSpPr>
          <p:cNvPr id="4" name="Rounded Rectangle 3"/>
          <p:cNvSpPr/>
          <p:nvPr/>
        </p:nvSpPr>
        <p:spPr>
          <a:xfrm>
            <a:off x="731520" y="365760"/>
            <a:ext cx="411480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onsolas"/>
              </a:defRPr>
            </a:pPr>
            <a:r>
              <a:t>FINAL MESSAGE</a:t>
            </a:r>
          </a:p>
        </p:txBody>
      </p:sp>
      <p:sp>
        <p:nvSpPr>
          <p:cNvPr id="5" name="TextBox 4"/>
          <p:cNvSpPr txBox="1"/>
          <p:nvPr/>
        </p:nvSpPr>
        <p:spPr>
          <a:xfrm>
            <a:off x="731520" y="777240"/>
            <a:ext cx="10698480" cy="731520"/>
          </a:xfrm>
          <a:prstGeom prst="rect">
            <a:avLst/>
          </a:prstGeom>
          <a:noFill/>
        </p:spPr>
        <p:txBody>
          <a:bodyPr wrap="square">
            <a:spAutoFit/>
          </a:bodyPr>
          <a:lstStyle/>
          <a:p>
            <a:pPr>
              <a:defRPr sz="2600" b="1">
                <a:solidFill>
                  <a:srgbClr val="FFFFFF"/>
                </a:solidFill>
                <a:latin typeface="Georgia"/>
              </a:defRPr>
            </a:pPr>
            <a:r>
              <a:t>Don't Prompt AI Like a Search Engine</a:t>
            </a:r>
          </a:p>
        </p:txBody>
      </p:sp>
      <p:sp>
        <p:nvSpPr>
          <p:cNvPr id="6" name="Rounded Rectangle 5"/>
          <p:cNvSpPr/>
          <p:nvPr/>
        </p:nvSpPr>
        <p:spPr>
          <a:xfrm>
            <a:off x="731520" y="1645920"/>
            <a:ext cx="10698480" cy="1097280"/>
          </a:xfrm>
          <a:prstGeom prst="roundRect">
            <a:avLst/>
          </a:prstGeom>
          <a:solidFill>
            <a:srgbClr val="2563EB"/>
          </a:solidFill>
          <a:ln w="25400">
            <a:solidFill>
              <a:srgbClr val="DBEA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000" b="1">
                <a:solidFill>
                  <a:srgbClr val="DBEAFE"/>
                </a:solidFill>
                <a:latin typeface="Consolas"/>
              </a:defRPr>
            </a:pPr>
            <a:r>
              <a:t>THE PROFESSIONAL FORMULA</a:t>
            </a:r>
          </a:p>
          <a:p>
            <a:pPr>
              <a:defRPr sz="1300">
                <a:solidFill>
                  <a:srgbClr val="FFFFFF"/>
                </a:solidFill>
                <a:latin typeface="Calibri"/>
              </a:defRPr>
            </a:pPr>
            <a:r>
              <a:t>ROLE + CONTEXT + TASK + CONSTRAINTS + OUTPUT + VALIDATION</a:t>
            </a:r>
          </a:p>
        </p:txBody>
      </p:sp>
      <p:sp>
        <p:nvSpPr>
          <p:cNvPr id="7" name="Rounded Rectangle 6"/>
          <p:cNvSpPr/>
          <p:nvPr/>
        </p:nvSpPr>
        <p:spPr>
          <a:xfrm>
            <a:off x="731520" y="2926080"/>
            <a:ext cx="10698480" cy="1371600"/>
          </a:xfrm>
          <a:prstGeom prst="round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400"/>
              </a:spcAft>
              <a:defRPr sz="1000" b="1">
                <a:solidFill>
                  <a:srgbClr val="EF4444"/>
                </a:solidFill>
                <a:latin typeface="Consolas"/>
              </a:defRPr>
            </a:pPr>
            <a:r>
              <a:t>GOLDEN RULE</a:t>
            </a:r>
          </a:p>
          <a:p>
            <a:pPr>
              <a:defRPr sz="1300">
                <a:solidFill>
                  <a:srgbClr val="FEE2E2"/>
                </a:solidFill>
                <a:latin typeface="Calibri"/>
              </a:defRPr>
            </a:pPr>
            <a:r>
              <a:t>AI-generated code is a draft from a brilliant junior who never sleeps, never doubts themselves, and never tells you when they're guessing. Treat it accordingly.</a:t>
            </a:r>
          </a:p>
        </p:txBody>
      </p:sp>
      <p:sp>
        <p:nvSpPr>
          <p:cNvPr id="8" name="TextBox 7"/>
          <p:cNvSpPr txBox="1"/>
          <p:nvPr/>
        </p:nvSpPr>
        <p:spPr>
          <a:xfrm>
            <a:off x="731520" y="4754880"/>
            <a:ext cx="10698480" cy="1371600"/>
          </a:xfrm>
          <a:prstGeom prst="rect">
            <a:avLst/>
          </a:prstGeom>
          <a:noFill/>
        </p:spPr>
        <p:txBody>
          <a:bodyPr wrap="square">
            <a:spAutoFit/>
          </a:bodyPr>
          <a:lstStyle/>
          <a:p>
            <a:pPr algn="ctr">
              <a:defRPr sz="1800">
                <a:solidFill>
                  <a:srgbClr val="DBEAFE"/>
                </a:solidFill>
              </a:defRPr>
            </a:pPr>
            <a:r>
              <a:t>Understand tools → Choose right tool → Master prompting → Construct prompts → Apply to real tasks → Review professionally.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2096</Words>
  <Application>Microsoft Office PowerPoint</Application>
  <PresentationFormat>Widescreen</PresentationFormat>
  <Paragraphs>281</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Ayman Mohamed</cp:lastModifiedBy>
  <cp:revision>4</cp:revision>
  <dcterms:created xsi:type="dcterms:W3CDTF">2013-01-27T09:14:16Z</dcterms:created>
  <dcterms:modified xsi:type="dcterms:W3CDTF">2026-08-09T13:37:38Z</dcterms:modified>
  <cp:category/>
</cp:coreProperties>
</file>